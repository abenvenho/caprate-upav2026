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5"/>
    <p:sldId id="258" r:id="rId4"/>
    <p:sldId id="259" r:id="rId3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/>
  <p:notesSz cx="6858000" cy="9144000"/>
  <p:defaultTextStyle>
    <a:defPPr>
      <a:defRPr lang="es-P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B3658"/>
            </a:solidFill>
            <a:ln>
              <a:noFill/>
            </a:ln>
          </c:spPr>
          <c:dPt>
            <c:idx val="4"/>
            <c:invertIfNegative val="0"/>
            <c:bubble3D val="0"/>
            <c:spPr>
              <a:solidFill>
                <a:srgbClr val="F0A81C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19</c:v>
                </c:pt>
                <c:pt idx="1">
                  <c:v>0</c:v>
                </c:pt>
                <c:pt idx="2">
                  <c:v>32</c:v>
                </c:pt>
                <c:pt idx="3">
                  <c:v>30</c:v>
                </c:pt>
                <c:pt idx="4">
                  <c:v>166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  <c:txPr>
            <a:bodyPr/>
            <a:lstStyle/>
            <a:p>
              <a:pPr>
                <a:defRPr sz="1300" b="1">
                  <a:solidFill>
                    <a:srgbClr val="0B3658"/>
                  </a:solidFill>
                  <a:latin typeface="Calibri"/>
                </a:defRPr>
              </a:pPr>
              <a:endParaRPr lang="pt-BR"/>
            </a:p>
          </c:txPr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BD4DE"/>
            </a:solidFill>
          </a:ln>
        </c:spPr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1400" b="0">
                <a:solidFill>
                  <a:srgbClr val="5B6775"/>
                </a:solidFill>
                <a:latin typeface="Calibri"/>
              </a:defRPr>
            </a:pPr>
            <a:endParaRPr lang="pt-BR"/>
          </a:p>
        </c:txPr>
      </c:catAx>
      <c:valAx>
        <c:axId val="-2113994440"/>
        <c:scaling>
          <c:max val="200.0"/>
          <c:min val="0.0"/>
        </c:scaling>
        <c:delete val="0"/>
        <c:axPos val="l"/>
        <c:majorGridlines>
          <c:spPr>
            <a:ln w="9525">
              <a:solidFill>
                <a:srgbClr val="E3E8EE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txPr>
          <a:bodyPr/>
          <a:lstStyle/>
          <a:p>
            <a:pPr>
              <a:defRPr sz="1300" b="0">
                <a:solidFill>
                  <a:srgbClr val="5B6775"/>
                </a:solidFill>
                <a:latin typeface="Calibri"/>
              </a:defRPr>
            </a:pPr>
            <a:endParaRPr lang="pt-BR"/>
          </a:p>
        </c:txPr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Observações</c:v>
                </c:pt>
              </c:strCache>
            </c:strRef>
          </c:tx>
          <c:spPr>
            <a:ln w="0">
              <a:noFill/>
            </a:ln>
          </c:spPr>
          <c:marker>
            <c:symbol val="circle"/>
            <c:size val="5"/>
            <c:spPr>
              <a:solidFill>
                <a:srgbClr val="0B3658">
                  <a:alpha val="62000"/>
                </a:srgbClr>
              </a:solidFill>
              <a:ln w="0">
                <a:noFill/>
              </a:ln>
            </c:spPr>
          </c:marker>
          <c:xVal>
            <c:numRef>
              <c:f>Sheet1!$A$2:$A$248</c:f>
              <c:numCache>
                <c:formatCode>General</c:formatCode>
                <c:ptCount val="247"/>
                <c:pt idx="0">
                  <c:v>-46.6859992</c:v>
                </c:pt>
                <c:pt idx="1">
                  <c:v>-46.6859992</c:v>
                </c:pt>
                <c:pt idx="2">
                  <c:v>-46.6862009</c:v>
                </c:pt>
                <c:pt idx="3">
                  <c:v>-46.6862009</c:v>
                </c:pt>
                <c:pt idx="4">
                  <c:v>-46.694172</c:v>
                </c:pt>
                <c:pt idx="5">
                  <c:v>-46.6570294</c:v>
                </c:pt>
                <c:pt idx="6">
                  <c:v>-46.6916632</c:v>
                </c:pt>
                <c:pt idx="7">
                  <c:v>-46.6873222</c:v>
                </c:pt>
                <c:pt idx="8">
                  <c:v>-46.6904286</c:v>
                </c:pt>
                <c:pt idx="9">
                  <c:v>-46.6768993</c:v>
                </c:pt>
                <c:pt idx="10">
                  <c:v>-46.6904462</c:v>
                </c:pt>
                <c:pt idx="11">
                  <c:v>-46.6981966</c:v>
                </c:pt>
                <c:pt idx="12">
                  <c:v>-46.6960079</c:v>
                </c:pt>
                <c:pt idx="13">
                  <c:v>-46.6733735</c:v>
                </c:pt>
                <c:pt idx="14">
                  <c:v>-46.6949729</c:v>
                </c:pt>
                <c:pt idx="15">
                  <c:v>-46.6949729</c:v>
                </c:pt>
                <c:pt idx="16">
                  <c:v>-46.7398091</c:v>
                </c:pt>
                <c:pt idx="17">
                  <c:v>-46.6900801</c:v>
                </c:pt>
                <c:pt idx="18">
                  <c:v>-46.6953196</c:v>
                </c:pt>
                <c:pt idx="19">
                  <c:v>-46.6916632</c:v>
                </c:pt>
                <c:pt idx="20">
                  <c:v>-46.6916632</c:v>
                </c:pt>
                <c:pt idx="21">
                  <c:v>-46.6796982</c:v>
                </c:pt>
                <c:pt idx="22">
                  <c:v>-46.657618</c:v>
                </c:pt>
                <c:pt idx="23">
                  <c:v>-46.6910367</c:v>
                </c:pt>
                <c:pt idx="24">
                  <c:v>-46.6714644</c:v>
                </c:pt>
                <c:pt idx="25">
                  <c:v>-46.6900801</c:v>
                </c:pt>
                <c:pt idx="26">
                  <c:v>-46.6900801</c:v>
                </c:pt>
                <c:pt idx="27">
                  <c:v>-46.6817216</c:v>
                </c:pt>
                <c:pt idx="28">
                  <c:v>-46.7149803</c:v>
                </c:pt>
                <c:pt idx="29">
                  <c:v>-46.6735216</c:v>
                </c:pt>
                <c:pt idx="30">
                  <c:v>-46.6826038</c:v>
                </c:pt>
                <c:pt idx="31">
                  <c:v>-46.6826038</c:v>
                </c:pt>
                <c:pt idx="32">
                  <c:v>-46.6817216</c:v>
                </c:pt>
                <c:pt idx="33">
                  <c:v>-46.6817216</c:v>
                </c:pt>
                <c:pt idx="34">
                  <c:v>-46.6858799</c:v>
                </c:pt>
                <c:pt idx="35">
                  <c:v>-46.6904462</c:v>
                </c:pt>
                <c:pt idx="36">
                  <c:v>-46.6915088</c:v>
                </c:pt>
                <c:pt idx="37">
                  <c:v>-46.6892886</c:v>
                </c:pt>
                <c:pt idx="38">
                  <c:v>-46.6892886</c:v>
                </c:pt>
                <c:pt idx="39">
                  <c:v>-46.6893741</c:v>
                </c:pt>
                <c:pt idx="40">
                  <c:v>-46.6707987</c:v>
                </c:pt>
                <c:pt idx="41">
                  <c:v>-46.6847518</c:v>
                </c:pt>
                <c:pt idx="42">
                  <c:v>-46.6954127</c:v>
                </c:pt>
                <c:pt idx="43">
                  <c:v>-46.6596629</c:v>
                </c:pt>
                <c:pt idx="44">
                  <c:v>-46.6909281</c:v>
                </c:pt>
                <c:pt idx="45">
                  <c:v>-46.7003845</c:v>
                </c:pt>
                <c:pt idx="46">
                  <c:v>-46.6471093</c:v>
                </c:pt>
                <c:pt idx="47">
                  <c:v>-46.6858799</c:v>
                </c:pt>
                <c:pt idx="48">
                  <c:v>-46.6981068</c:v>
                </c:pt>
                <c:pt idx="49">
                  <c:v>-46.6981068</c:v>
                </c:pt>
                <c:pt idx="50">
                  <c:v>-46.6487655</c:v>
                </c:pt>
                <c:pt idx="51">
                  <c:v>-46.6956348</c:v>
                </c:pt>
                <c:pt idx="52">
                  <c:v>-46.6956348</c:v>
                </c:pt>
                <c:pt idx="53">
                  <c:v>-46.6768993</c:v>
                </c:pt>
                <c:pt idx="54">
                  <c:v>-46.6910367</c:v>
                </c:pt>
                <c:pt idx="55">
                  <c:v>-46.6910367</c:v>
                </c:pt>
                <c:pt idx="56">
                  <c:v>-46.6763476</c:v>
                </c:pt>
                <c:pt idx="57">
                  <c:v>-46.6659896</c:v>
                </c:pt>
                <c:pt idx="58">
                  <c:v>-46.6772505</c:v>
                </c:pt>
                <c:pt idx="59">
                  <c:v>-46.692127</c:v>
                </c:pt>
                <c:pt idx="60">
                  <c:v>-46.6850398</c:v>
                </c:pt>
                <c:pt idx="61">
                  <c:v>-46.6817216</c:v>
                </c:pt>
                <c:pt idx="62">
                  <c:v>-46.6589799</c:v>
                </c:pt>
                <c:pt idx="63">
                  <c:v>-46.7089291</c:v>
                </c:pt>
                <c:pt idx="64">
                  <c:v>-46.6944575</c:v>
                </c:pt>
                <c:pt idx="65">
                  <c:v>-46.6818302</c:v>
                </c:pt>
                <c:pt idx="66">
                  <c:v>-46.7089291</c:v>
                </c:pt>
                <c:pt idx="67">
                  <c:v>-46.6818302</c:v>
                </c:pt>
                <c:pt idx="68">
                  <c:v>-46.6886934</c:v>
                </c:pt>
                <c:pt idx="69">
                  <c:v>-46.6996316</c:v>
                </c:pt>
                <c:pt idx="70">
                  <c:v>-46.6731249</c:v>
                </c:pt>
                <c:pt idx="71">
                  <c:v>-46.6570294</c:v>
                </c:pt>
                <c:pt idx="72">
                  <c:v>-46.6825723</c:v>
                </c:pt>
                <c:pt idx="73">
                  <c:v>-46.6466046</c:v>
                </c:pt>
                <c:pt idx="74">
                  <c:v>-46.695668</c:v>
                </c:pt>
                <c:pt idx="75">
                  <c:v>-46.6817216</c:v>
                </c:pt>
                <c:pt idx="76">
                  <c:v>-46.6724299</c:v>
                </c:pt>
                <c:pt idx="77">
                  <c:v>-46.6724299</c:v>
                </c:pt>
                <c:pt idx="78">
                  <c:v>-46.6766523</c:v>
                </c:pt>
                <c:pt idx="79">
                  <c:v>-46.6707987</c:v>
                </c:pt>
                <c:pt idx="80">
                  <c:v>-46.6707987</c:v>
                </c:pt>
                <c:pt idx="81">
                  <c:v>-46.645613</c:v>
                </c:pt>
                <c:pt idx="82">
                  <c:v>-46.6839228</c:v>
                </c:pt>
                <c:pt idx="83">
                  <c:v>-46.6916632</c:v>
                </c:pt>
                <c:pt idx="84">
                  <c:v>-46.6587893</c:v>
                </c:pt>
                <c:pt idx="85">
                  <c:v>-46.6912273</c:v>
                </c:pt>
                <c:pt idx="86">
                  <c:v>-46.6813034</c:v>
                </c:pt>
                <c:pt idx="87">
                  <c:v>-46.6905142</c:v>
                </c:pt>
                <c:pt idx="88">
                  <c:v>-46.6817216</c:v>
                </c:pt>
                <c:pt idx="89">
                  <c:v>-46.6836902</c:v>
                </c:pt>
                <c:pt idx="90">
                  <c:v>-46.6868911</c:v>
                </c:pt>
                <c:pt idx="91">
                  <c:v>-46.7006298</c:v>
                </c:pt>
                <c:pt idx="92">
                  <c:v>-46.6581706</c:v>
                </c:pt>
                <c:pt idx="93">
                  <c:v>-46.6581706</c:v>
                </c:pt>
                <c:pt idx="94">
                  <c:v>-46.6951536</c:v>
                </c:pt>
                <c:pt idx="95">
                  <c:v>-46.6895301</c:v>
                </c:pt>
                <c:pt idx="96">
                  <c:v>-46.6406869</c:v>
                </c:pt>
                <c:pt idx="97">
                  <c:v>-46.6605248</c:v>
                </c:pt>
                <c:pt idx="98">
                  <c:v>-46.6565962</c:v>
                </c:pt>
                <c:pt idx="99">
                  <c:v>-46.6938267</c:v>
                </c:pt>
                <c:pt idx="100">
                  <c:v>-46.703427</c:v>
                </c:pt>
                <c:pt idx="101">
                  <c:v>-46.6930013</c:v>
                </c:pt>
                <c:pt idx="102">
                  <c:v>-46.6827442</c:v>
                </c:pt>
                <c:pt idx="103">
                  <c:v>-46.6506924</c:v>
                </c:pt>
                <c:pt idx="104">
                  <c:v>-46.6880014</c:v>
                </c:pt>
                <c:pt idx="105">
                  <c:v>-46.6561773</c:v>
                </c:pt>
                <c:pt idx="106">
                  <c:v>-46.7287951</c:v>
                </c:pt>
                <c:pt idx="107">
                  <c:v>-46.6809465</c:v>
                </c:pt>
                <c:pt idx="108">
                  <c:v>-46.6825017</c:v>
                </c:pt>
                <c:pt idx="109">
                  <c:v>-46.6826797</c:v>
                </c:pt>
                <c:pt idx="110">
                  <c:v>-46.6724266</c:v>
                </c:pt>
                <c:pt idx="111">
                  <c:v>-46.6707554</c:v>
                </c:pt>
                <c:pt idx="112">
                  <c:v>-46.6721385</c:v>
                </c:pt>
                <c:pt idx="113">
                  <c:v>-46.6759857</c:v>
                </c:pt>
                <c:pt idx="114">
                  <c:v>-46.6809465</c:v>
                </c:pt>
                <c:pt idx="115">
                  <c:v>-46.6804183</c:v>
                </c:pt>
                <c:pt idx="116">
                  <c:v>-46.6773488</c:v>
                </c:pt>
                <c:pt idx="117">
                  <c:v>-46.6801504</c:v>
                </c:pt>
                <c:pt idx="118">
                  <c:v>-46.6809465</c:v>
                </c:pt>
                <c:pt idx="119">
                  <c:v>-46.6542073</c:v>
                </c:pt>
                <c:pt idx="120">
                  <c:v>-46.6882119</c:v>
                </c:pt>
                <c:pt idx="121">
                  <c:v>-46.6834269</c:v>
                </c:pt>
                <c:pt idx="122">
                  <c:v>-46.6873212</c:v>
                </c:pt>
                <c:pt idx="123">
                  <c:v>-46.6927259</c:v>
                </c:pt>
                <c:pt idx="124">
                  <c:v>-46.6908586</c:v>
                </c:pt>
                <c:pt idx="125">
                  <c:v>-46.6793051</c:v>
                </c:pt>
                <c:pt idx="126">
                  <c:v>-46.693528</c:v>
                </c:pt>
                <c:pt idx="127">
                  <c:v>-46.6956354</c:v>
                </c:pt>
                <c:pt idx="128">
                  <c:v>-46.6857325</c:v>
                </c:pt>
                <c:pt idx="129">
                  <c:v>-46.6856947</c:v>
                </c:pt>
                <c:pt idx="130">
                  <c:v>-46.6768913</c:v>
                </c:pt>
                <c:pt idx="131">
                  <c:v>-46.6844957</c:v>
                </c:pt>
                <c:pt idx="132">
                  <c:v>-46.6829848</c:v>
                </c:pt>
                <c:pt idx="133">
                  <c:v>-46.6902867</c:v>
                </c:pt>
                <c:pt idx="134">
                  <c:v>-46.6845501</c:v>
                </c:pt>
                <c:pt idx="135">
                  <c:v>-46.6851208</c:v>
                </c:pt>
                <c:pt idx="136">
                  <c:v>-46.685436</c:v>
                </c:pt>
                <c:pt idx="137">
                  <c:v>-46.6857367</c:v>
                </c:pt>
                <c:pt idx="138">
                  <c:v>-46.6831255</c:v>
                </c:pt>
                <c:pt idx="139">
                  <c:v>-46.6824936</c:v>
                </c:pt>
                <c:pt idx="140">
                  <c:v>-46.6865498</c:v>
                </c:pt>
                <c:pt idx="141">
                  <c:v>-46.6837009</c:v>
                </c:pt>
                <c:pt idx="142">
                  <c:v>-46.6856947</c:v>
                </c:pt>
                <c:pt idx="143">
                  <c:v>-46.6876175</c:v>
                </c:pt>
                <c:pt idx="144">
                  <c:v>-46.6329951</c:v>
                </c:pt>
                <c:pt idx="145">
                  <c:v>-46.6521787</c:v>
                </c:pt>
                <c:pt idx="146">
                  <c:v>-46.6464224</c:v>
                </c:pt>
                <c:pt idx="147">
                  <c:v>-46.6755043</c:v>
                </c:pt>
                <c:pt idx="148">
                  <c:v>-46.6758909</c:v>
                </c:pt>
                <c:pt idx="149">
                  <c:v>-46.6379182</c:v>
                </c:pt>
                <c:pt idx="150">
                  <c:v>-46.656667</c:v>
                </c:pt>
                <c:pt idx="151">
                  <c:v>-46.6818456</c:v>
                </c:pt>
                <c:pt idx="152">
                  <c:v>-46.656667</c:v>
                </c:pt>
                <c:pt idx="153">
                  <c:v>-46.66432</c:v>
                </c:pt>
                <c:pt idx="154">
                  <c:v>-46.6801504</c:v>
                </c:pt>
                <c:pt idx="155">
                  <c:v>-46.671305</c:v>
                </c:pt>
                <c:pt idx="156">
                  <c:v>-46.6821951</c:v>
                </c:pt>
                <c:pt idx="157">
                  <c:v>-46.6737443</c:v>
                </c:pt>
                <c:pt idx="158">
                  <c:v>-46.6482664</c:v>
                </c:pt>
                <c:pt idx="159">
                  <c:v>-46.6390867</c:v>
                </c:pt>
                <c:pt idx="160">
                  <c:v>-46.6498338</c:v>
                </c:pt>
                <c:pt idx="161">
                  <c:v>-46.6546888</c:v>
                </c:pt>
                <c:pt idx="162">
                  <c:v>-46.6464224</c:v>
                </c:pt>
                <c:pt idx="163">
                  <c:v>-46.6486111</c:v>
                </c:pt>
                <c:pt idx="164">
                  <c:v>-46.648835</c:v>
                </c:pt>
                <c:pt idx="165">
                  <c:v>-46.6389194</c:v>
                </c:pt>
                <c:pt idx="166">
                  <c:v>-46.6380757</c:v>
                </c:pt>
                <c:pt idx="167">
                  <c:v>-46.6312512</c:v>
                </c:pt>
                <c:pt idx="168">
                  <c:v>-46.6366512</c:v>
                </c:pt>
                <c:pt idx="169">
                  <c:v>-46.634701</c:v>
                </c:pt>
                <c:pt idx="170">
                  <c:v>-46.6397526</c:v>
                </c:pt>
                <c:pt idx="171">
                  <c:v>-46.6425512</c:v>
                </c:pt>
                <c:pt idx="172">
                  <c:v>-46.6355996</c:v>
                </c:pt>
                <c:pt idx="173">
                  <c:v>-46.640406</c:v>
                </c:pt>
                <c:pt idx="174">
                  <c:v>-46.6414826</c:v>
                </c:pt>
                <c:pt idx="175">
                  <c:v>-46.6405307</c:v>
                </c:pt>
                <c:pt idx="176">
                  <c:v>-46.63792</c:v>
                </c:pt>
                <c:pt idx="177">
                  <c:v>-46.6411478</c:v>
                </c:pt>
                <c:pt idx="178">
                  <c:v>-46.6351053</c:v>
                </c:pt>
                <c:pt idx="179">
                  <c:v>-46.6365821</c:v>
                </c:pt>
                <c:pt idx="180">
                  <c:v>-46.6341051</c:v>
                </c:pt>
                <c:pt idx="181">
                  <c:v>-46.6341051</c:v>
                </c:pt>
                <c:pt idx="182">
                  <c:v>-46.640406</c:v>
                </c:pt>
                <c:pt idx="183">
                  <c:v>-46.640406</c:v>
                </c:pt>
                <c:pt idx="184">
                  <c:v>-46.6385341</c:v>
                </c:pt>
                <c:pt idx="185">
                  <c:v>-46.6394414</c:v>
                </c:pt>
                <c:pt idx="186">
                  <c:v>-46.640406</c:v>
                </c:pt>
                <c:pt idx="187">
                  <c:v>-46.6375927</c:v>
                </c:pt>
                <c:pt idx="188">
                  <c:v>-46.641648</c:v>
                </c:pt>
                <c:pt idx="189">
                  <c:v>-46.641648</c:v>
                </c:pt>
                <c:pt idx="190">
                  <c:v>-46.6356826</c:v>
                </c:pt>
                <c:pt idx="191">
                  <c:v>-46.652648</c:v>
                </c:pt>
                <c:pt idx="192">
                  <c:v>-46.6400132</c:v>
                </c:pt>
                <c:pt idx="193">
                  <c:v>-46.6401837</c:v>
                </c:pt>
                <c:pt idx="194">
                  <c:v>-46.640228</c:v>
                </c:pt>
                <c:pt idx="195">
                  <c:v>-46.6375927</c:v>
                </c:pt>
                <c:pt idx="196">
                  <c:v>-46.640406</c:v>
                </c:pt>
                <c:pt idx="197">
                  <c:v>-46.652648</c:v>
                </c:pt>
                <c:pt idx="198">
                  <c:v>-46.6376704</c:v>
                </c:pt>
                <c:pt idx="199">
                  <c:v>-46.6405259</c:v>
                </c:pt>
                <c:pt idx="200">
                  <c:v>-46.6394068</c:v>
                </c:pt>
                <c:pt idx="201">
                  <c:v>-46.6405259</c:v>
                </c:pt>
                <c:pt idx="202">
                  <c:v>-46.6364613</c:v>
                </c:pt>
                <c:pt idx="203">
                  <c:v>-46.6353849</c:v>
                </c:pt>
                <c:pt idx="204">
                  <c:v>-46.6347868</c:v>
                </c:pt>
                <c:pt idx="205">
                  <c:v>-46.640406</c:v>
                </c:pt>
                <c:pt idx="206">
                  <c:v>-46.6457043</c:v>
                </c:pt>
                <c:pt idx="207">
                  <c:v>-46.6411478</c:v>
                </c:pt>
                <c:pt idx="208">
                  <c:v>-46.6351053</c:v>
                </c:pt>
                <c:pt idx="209">
                  <c:v>-46.6392013</c:v>
                </c:pt>
                <c:pt idx="210">
                  <c:v>-46.641648</c:v>
                </c:pt>
                <c:pt idx="211">
                  <c:v>-46.634701</c:v>
                </c:pt>
                <c:pt idx="212">
                  <c:v>-46.6392013</c:v>
                </c:pt>
                <c:pt idx="213">
                  <c:v>-46.6356826</c:v>
                </c:pt>
                <c:pt idx="214">
                  <c:v>-46.640406</c:v>
                </c:pt>
                <c:pt idx="215">
                  <c:v>-46.6341051</c:v>
                </c:pt>
                <c:pt idx="216">
                  <c:v>-46.6366512</c:v>
                </c:pt>
                <c:pt idx="217">
                  <c:v>-46.636486</c:v>
                </c:pt>
                <c:pt idx="218">
                  <c:v>-46.6407991</c:v>
                </c:pt>
                <c:pt idx="219">
                  <c:v>-46.636486</c:v>
                </c:pt>
                <c:pt idx="220">
                  <c:v>-46.6355996</c:v>
                </c:pt>
                <c:pt idx="221">
                  <c:v>-46.6457043</c:v>
                </c:pt>
                <c:pt idx="222">
                  <c:v>-46.6392013</c:v>
                </c:pt>
                <c:pt idx="223">
                  <c:v>-46.6411946</c:v>
                </c:pt>
                <c:pt idx="224">
                  <c:v>-46.6562581</c:v>
                </c:pt>
                <c:pt idx="225">
                  <c:v>-46.641648</c:v>
                </c:pt>
                <c:pt idx="226">
                  <c:v>-46.6602889</c:v>
                </c:pt>
                <c:pt idx="227">
                  <c:v>-46.6404089</c:v>
                </c:pt>
                <c:pt idx="228">
                  <c:v>-46.6584121</c:v>
                </c:pt>
                <c:pt idx="229">
                  <c:v>-46.6398838</c:v>
                </c:pt>
                <c:pt idx="230">
                  <c:v>-46.6366512</c:v>
                </c:pt>
                <c:pt idx="231">
                  <c:v>-46.6552287</c:v>
                </c:pt>
                <c:pt idx="232">
                  <c:v>-46.6332945</c:v>
                </c:pt>
                <c:pt idx="233">
                  <c:v>-46.6405259</c:v>
                </c:pt>
                <c:pt idx="234">
                  <c:v>-46.640406</c:v>
                </c:pt>
                <c:pt idx="235">
                  <c:v>-46.640406</c:v>
                </c:pt>
                <c:pt idx="236">
                  <c:v>-46.6351053</c:v>
                </c:pt>
                <c:pt idx="237">
                  <c:v>-46.634701</c:v>
                </c:pt>
                <c:pt idx="238">
                  <c:v>-46.6412905</c:v>
                </c:pt>
                <c:pt idx="239">
                  <c:v>-46.6345483</c:v>
                </c:pt>
                <c:pt idx="240">
                  <c:v>-46.6356475</c:v>
                </c:pt>
                <c:pt idx="241">
                  <c:v>-46.6329853</c:v>
                </c:pt>
                <c:pt idx="242">
                  <c:v>-46.7066236</c:v>
                </c:pt>
                <c:pt idx="243">
                  <c:v>-46.7047912</c:v>
                </c:pt>
                <c:pt idx="244">
                  <c:v>-46.6840269</c:v>
                </c:pt>
                <c:pt idx="245">
                  <c:v>-46.7073267</c:v>
                </c:pt>
                <c:pt idx="246">
                  <c:v>-46.7063576</c:v>
                </c:pt>
              </c:numCache>
            </c:numRef>
          </c:xVal>
          <c:yVal>
            <c:numRef>
              <c:f>Sheet1!$B$2:$B$248</c:f>
              <c:numCache>
                <c:formatCode>General</c:formatCode>
                <c:ptCount val="247"/>
                <c:pt idx="0">
                  <c:v>-23.5931321</c:v>
                </c:pt>
                <c:pt idx="1">
                  <c:v>-23.5931321</c:v>
                </c:pt>
                <c:pt idx="2">
                  <c:v>-23.593054</c:v>
                </c:pt>
                <c:pt idx="3">
                  <c:v>-23.593054</c:v>
                </c:pt>
                <c:pt idx="4">
                  <c:v>-23.6114829</c:v>
                </c:pt>
                <c:pt idx="5">
                  <c:v>-23.5601652</c:v>
                </c:pt>
                <c:pt idx="6">
                  <c:v>-23.5934609</c:v>
                </c:pt>
                <c:pt idx="7">
                  <c:v>-23.5973148</c:v>
                </c:pt>
                <c:pt idx="8">
                  <c:v>-23.5952887</c:v>
                </c:pt>
                <c:pt idx="9">
                  <c:v>-23.5843126</c:v>
                </c:pt>
                <c:pt idx="10">
                  <c:v>-23.5721606</c:v>
                </c:pt>
                <c:pt idx="11">
                  <c:v>-23.6022979</c:v>
                </c:pt>
                <c:pt idx="12">
                  <c:v>-23.6136538</c:v>
                </c:pt>
                <c:pt idx="13">
                  <c:v>-23.5775486</c:v>
                </c:pt>
                <c:pt idx="14">
                  <c:v>-23.607725</c:v>
                </c:pt>
                <c:pt idx="15">
                  <c:v>-23.607725</c:v>
                </c:pt>
                <c:pt idx="16">
                  <c:v>-23.52642</c:v>
                </c:pt>
                <c:pt idx="17">
                  <c:v>-23.5987682</c:v>
                </c:pt>
                <c:pt idx="18">
                  <c:v>-23.6238277</c:v>
                </c:pt>
                <c:pt idx="19">
                  <c:v>-23.5934609</c:v>
                </c:pt>
                <c:pt idx="20">
                  <c:v>-23.5934609</c:v>
                </c:pt>
                <c:pt idx="21">
                  <c:v>-23.5957347</c:v>
                </c:pt>
                <c:pt idx="22">
                  <c:v>-23.5676762</c:v>
                </c:pt>
                <c:pt idx="23">
                  <c:v>-23.6004352</c:v>
                </c:pt>
                <c:pt idx="24">
                  <c:v>-23.5819528</c:v>
                </c:pt>
                <c:pt idx="25">
                  <c:v>-23.5987682</c:v>
                </c:pt>
                <c:pt idx="26">
                  <c:v>-23.5987682</c:v>
                </c:pt>
                <c:pt idx="27">
                  <c:v>-23.532249</c:v>
                </c:pt>
                <c:pt idx="28">
                  <c:v>-23.6356222</c:v>
                </c:pt>
                <c:pt idx="29">
                  <c:v>-23.5930524</c:v>
                </c:pt>
                <c:pt idx="30">
                  <c:v>-23.5906084</c:v>
                </c:pt>
                <c:pt idx="31">
                  <c:v>-23.5906084</c:v>
                </c:pt>
                <c:pt idx="32">
                  <c:v>-23.532249</c:v>
                </c:pt>
                <c:pt idx="33">
                  <c:v>-23.532249</c:v>
                </c:pt>
                <c:pt idx="34">
                  <c:v>-23.5948472</c:v>
                </c:pt>
                <c:pt idx="35">
                  <c:v>-23.5721606</c:v>
                </c:pt>
                <c:pt idx="36">
                  <c:v>-23.6548618</c:v>
                </c:pt>
                <c:pt idx="37">
                  <c:v>-23.5963899</c:v>
                </c:pt>
                <c:pt idx="38">
                  <c:v>-23.5963899</c:v>
                </c:pt>
                <c:pt idx="39">
                  <c:v>-23.5963497</c:v>
                </c:pt>
                <c:pt idx="40">
                  <c:v>-23.5835503</c:v>
                </c:pt>
                <c:pt idx="41">
                  <c:v>-23.594287</c:v>
                </c:pt>
                <c:pt idx="42">
                  <c:v>-23.6078471</c:v>
                </c:pt>
                <c:pt idx="43">
                  <c:v>-23.5543715</c:v>
                </c:pt>
                <c:pt idx="44">
                  <c:v>-23.5703173</c:v>
                </c:pt>
                <c:pt idx="45">
                  <c:v>-23.624728</c:v>
                </c:pt>
                <c:pt idx="46">
                  <c:v>-23.5967252</c:v>
                </c:pt>
                <c:pt idx="47">
                  <c:v>-23.5948472</c:v>
                </c:pt>
                <c:pt idx="48">
                  <c:v>-23.6112892</c:v>
                </c:pt>
                <c:pt idx="49">
                  <c:v>-23.6112892</c:v>
                </c:pt>
                <c:pt idx="50">
                  <c:v>-23.5934222</c:v>
                </c:pt>
                <c:pt idx="51">
                  <c:v>-23.6110632</c:v>
                </c:pt>
                <c:pt idx="52">
                  <c:v>-23.6110632</c:v>
                </c:pt>
                <c:pt idx="53">
                  <c:v>-23.5843126</c:v>
                </c:pt>
                <c:pt idx="54">
                  <c:v>-23.6004352</c:v>
                </c:pt>
                <c:pt idx="55">
                  <c:v>-23.6004352</c:v>
                </c:pt>
                <c:pt idx="56">
                  <c:v>-23.5860767</c:v>
                </c:pt>
                <c:pt idx="57">
                  <c:v>-23.5620377</c:v>
                </c:pt>
                <c:pt idx="58">
                  <c:v>-23.5798017</c:v>
                </c:pt>
                <c:pt idx="59">
                  <c:v>-23.6066981</c:v>
                </c:pt>
                <c:pt idx="60">
                  <c:v>-23.5983569</c:v>
                </c:pt>
                <c:pt idx="61">
                  <c:v>-23.532249</c:v>
                </c:pt>
                <c:pt idx="62">
                  <c:v>-23.5482548</c:v>
                </c:pt>
                <c:pt idx="63">
                  <c:v>-23.5538216</c:v>
                </c:pt>
                <c:pt idx="64">
                  <c:v>-23.6072505</c:v>
                </c:pt>
                <c:pt idx="65">
                  <c:v>-23.585195</c:v>
                </c:pt>
                <c:pt idx="66">
                  <c:v>-23.5538216</c:v>
                </c:pt>
                <c:pt idx="67">
                  <c:v>-23.585195</c:v>
                </c:pt>
                <c:pt idx="68">
                  <c:v>-23.6147405</c:v>
                </c:pt>
                <c:pt idx="69">
                  <c:v>-23.6276443</c:v>
                </c:pt>
                <c:pt idx="70">
                  <c:v>-23.5855308</c:v>
                </c:pt>
                <c:pt idx="71">
                  <c:v>-23.5601652</c:v>
                </c:pt>
                <c:pt idx="72">
                  <c:v>-23.5994798</c:v>
                </c:pt>
                <c:pt idx="73">
                  <c:v>-23.5709361</c:v>
                </c:pt>
                <c:pt idx="74">
                  <c:v>-23.6038315</c:v>
                </c:pt>
                <c:pt idx="75">
                  <c:v>-23.532249</c:v>
                </c:pt>
                <c:pt idx="76">
                  <c:v>-23.5856233</c:v>
                </c:pt>
                <c:pt idx="77">
                  <c:v>-23.5856233</c:v>
                </c:pt>
                <c:pt idx="78">
                  <c:v>-23.6182734</c:v>
                </c:pt>
                <c:pt idx="79">
                  <c:v>-23.5835503</c:v>
                </c:pt>
                <c:pt idx="80">
                  <c:v>-23.5835503</c:v>
                </c:pt>
                <c:pt idx="81">
                  <c:v>-23.5968578</c:v>
                </c:pt>
                <c:pt idx="82">
                  <c:v>-23.5892049</c:v>
                </c:pt>
                <c:pt idx="83">
                  <c:v>-23.5934609</c:v>
                </c:pt>
                <c:pt idx="84">
                  <c:v>-23.5673461</c:v>
                </c:pt>
                <c:pt idx="85">
                  <c:v>-23.5958746</c:v>
                </c:pt>
                <c:pt idx="86">
                  <c:v>-23.5904846</c:v>
                </c:pt>
                <c:pt idx="87">
                  <c:v>-23.5936301</c:v>
                </c:pt>
                <c:pt idx="88">
                  <c:v>-23.532249</c:v>
                </c:pt>
                <c:pt idx="89">
                  <c:v>-23.583857</c:v>
                </c:pt>
                <c:pt idx="90">
                  <c:v>-23.5944861</c:v>
                </c:pt>
                <c:pt idx="91">
                  <c:v>-23.6204519</c:v>
                </c:pt>
                <c:pt idx="92">
                  <c:v>-23.6046208</c:v>
                </c:pt>
                <c:pt idx="93">
                  <c:v>-23.6046208</c:v>
                </c:pt>
                <c:pt idx="94">
                  <c:v>-23.6217683</c:v>
                </c:pt>
                <c:pt idx="95">
                  <c:v>-23.5722492</c:v>
                </c:pt>
                <c:pt idx="96">
                  <c:v>-23.6322558</c:v>
                </c:pt>
                <c:pt idx="97">
                  <c:v>-23.5541696</c:v>
                </c:pt>
                <c:pt idx="98">
                  <c:v>-23.5543024</c:v>
                </c:pt>
                <c:pt idx="99">
                  <c:v>-23.5675442</c:v>
                </c:pt>
                <c:pt idx="100">
                  <c:v>-23.5726621</c:v>
                </c:pt>
                <c:pt idx="101">
                  <c:v>-23.5653267</c:v>
                </c:pt>
                <c:pt idx="102">
                  <c:v>-23.5903217</c:v>
                </c:pt>
                <c:pt idx="103">
                  <c:v>-23.5697578</c:v>
                </c:pt>
                <c:pt idx="104">
                  <c:v>-23.575003</c:v>
                </c:pt>
                <c:pt idx="105">
                  <c:v>-23.5608862</c:v>
                </c:pt>
                <c:pt idx="106">
                  <c:v>-23.6487404</c:v>
                </c:pt>
                <c:pt idx="107">
                  <c:v>-23.5942084</c:v>
                </c:pt>
                <c:pt idx="108">
                  <c:v>-23.5889923</c:v>
                </c:pt>
                <c:pt idx="109">
                  <c:v>-23.5847385</c:v>
                </c:pt>
                <c:pt idx="110">
                  <c:v>-23.5869338</c:v>
                </c:pt>
                <c:pt idx="111">
                  <c:v>-23.5833803</c:v>
                </c:pt>
                <c:pt idx="112">
                  <c:v>-23.5850759</c:v>
                </c:pt>
                <c:pt idx="113">
                  <c:v>-23.5841492</c:v>
                </c:pt>
                <c:pt idx="114">
                  <c:v>-23.5942084</c:v>
                </c:pt>
                <c:pt idx="115">
                  <c:v>-23.5914182</c:v>
                </c:pt>
                <c:pt idx="116">
                  <c:v>-23.5836979</c:v>
                </c:pt>
                <c:pt idx="117">
                  <c:v>-23.5859728</c:v>
                </c:pt>
                <c:pt idx="118">
                  <c:v>-23.5942084</c:v>
                </c:pt>
                <c:pt idx="119">
                  <c:v>-23.563109</c:v>
                </c:pt>
                <c:pt idx="120">
                  <c:v>-23.5746148</c:v>
                </c:pt>
                <c:pt idx="121">
                  <c:v>-23.5832048</c:v>
                </c:pt>
                <c:pt idx="122">
                  <c:v>-23.5761085</c:v>
                </c:pt>
                <c:pt idx="123">
                  <c:v>-23.5685394</c:v>
                </c:pt>
                <c:pt idx="124">
                  <c:v>-23.5703143</c:v>
                </c:pt>
                <c:pt idx="125">
                  <c:v>-23.551495</c:v>
                </c:pt>
                <c:pt idx="126">
                  <c:v>-23.6100934</c:v>
                </c:pt>
                <c:pt idx="127">
                  <c:v>-23.6143409</c:v>
                </c:pt>
                <c:pt idx="128">
                  <c:v>-23.5910536</c:v>
                </c:pt>
                <c:pt idx="129">
                  <c:v>-23.5928376</c:v>
                </c:pt>
                <c:pt idx="130">
                  <c:v>-23.5818329</c:v>
                </c:pt>
                <c:pt idx="131">
                  <c:v>-23.5980127</c:v>
                </c:pt>
                <c:pt idx="132">
                  <c:v>-23.5972129</c:v>
                </c:pt>
                <c:pt idx="133">
                  <c:v>-23.5957368</c:v>
                </c:pt>
                <c:pt idx="134">
                  <c:v>-23.5920111</c:v>
                </c:pt>
                <c:pt idx="135">
                  <c:v>-23.5952485</c:v>
                </c:pt>
                <c:pt idx="136">
                  <c:v>-23.5945348</c:v>
                </c:pt>
                <c:pt idx="137">
                  <c:v>-23.5950897</c:v>
                </c:pt>
                <c:pt idx="138">
                  <c:v>-23.5978582</c:v>
                </c:pt>
                <c:pt idx="139">
                  <c:v>-23.5990144</c:v>
                </c:pt>
                <c:pt idx="140">
                  <c:v>-23.593371</c:v>
                </c:pt>
                <c:pt idx="141">
                  <c:v>-23.5944462</c:v>
                </c:pt>
                <c:pt idx="142">
                  <c:v>-23.5928376</c:v>
                </c:pt>
                <c:pt idx="143">
                  <c:v>-23.5946885</c:v>
                </c:pt>
                <c:pt idx="144">
                  <c:v>-23.5876914</c:v>
                </c:pt>
                <c:pt idx="145">
                  <c:v>-23.5678326</c:v>
                </c:pt>
                <c:pt idx="146">
                  <c:v>-23.5677136</c:v>
                </c:pt>
                <c:pt idx="147">
                  <c:v>-23.5855752</c:v>
                </c:pt>
                <c:pt idx="148">
                  <c:v>-23.5846377</c:v>
                </c:pt>
                <c:pt idx="149">
                  <c:v>-23.5631366</c:v>
                </c:pt>
                <c:pt idx="150">
                  <c:v>-23.5582226</c:v>
                </c:pt>
                <c:pt idx="151">
                  <c:v>-23.5845301</c:v>
                </c:pt>
                <c:pt idx="152">
                  <c:v>-23.5582226</c:v>
                </c:pt>
                <c:pt idx="153">
                  <c:v>-23.5210051</c:v>
                </c:pt>
                <c:pt idx="154">
                  <c:v>-23.5859728</c:v>
                </c:pt>
                <c:pt idx="155">
                  <c:v>-23.5823061</c:v>
                </c:pt>
                <c:pt idx="156">
                  <c:v>-23.5826126</c:v>
                </c:pt>
                <c:pt idx="157">
                  <c:v>-23.5777963</c:v>
                </c:pt>
                <c:pt idx="158">
                  <c:v>-23.5688424</c:v>
                </c:pt>
                <c:pt idx="159">
                  <c:v>-23.5644919</c:v>
                </c:pt>
                <c:pt idx="160">
                  <c:v>-23.5927217</c:v>
                </c:pt>
                <c:pt idx="161">
                  <c:v>-23.5632603</c:v>
                </c:pt>
                <c:pt idx="162">
                  <c:v>-23.5677136</c:v>
                </c:pt>
                <c:pt idx="163">
                  <c:v>-23.5692422</c:v>
                </c:pt>
                <c:pt idx="164">
                  <c:v>-23.5702228</c:v>
                </c:pt>
                <c:pt idx="165">
                  <c:v>-23.6342324</c:v>
                </c:pt>
                <c:pt idx="166">
                  <c:v>-23.5497746</c:v>
                </c:pt>
                <c:pt idx="167">
                  <c:v>-23.5514424</c:v>
                </c:pt>
                <c:pt idx="168">
                  <c:v>-23.5483831</c:v>
                </c:pt>
                <c:pt idx="169">
                  <c:v>-23.5533239</c:v>
                </c:pt>
                <c:pt idx="170">
                  <c:v>-23.5458018</c:v>
                </c:pt>
                <c:pt idx="171">
                  <c:v>-23.5462948</c:v>
                </c:pt>
                <c:pt idx="172">
                  <c:v>-23.5514258</c:v>
                </c:pt>
                <c:pt idx="173">
                  <c:v>-23.546304</c:v>
                </c:pt>
                <c:pt idx="174">
                  <c:v>-23.5461304</c:v>
                </c:pt>
                <c:pt idx="175">
                  <c:v>-23.5483913</c:v>
                </c:pt>
                <c:pt idx="176">
                  <c:v>-23.5510633</c:v>
                </c:pt>
                <c:pt idx="177">
                  <c:v>-23.5463768</c:v>
                </c:pt>
                <c:pt idx="178">
                  <c:v>-23.5507284</c:v>
                </c:pt>
                <c:pt idx="179">
                  <c:v>-23.54939</c:v>
                </c:pt>
                <c:pt idx="180">
                  <c:v>-23.5535691</c:v>
                </c:pt>
                <c:pt idx="181">
                  <c:v>-23.5535691</c:v>
                </c:pt>
                <c:pt idx="182">
                  <c:v>-23.546304</c:v>
                </c:pt>
                <c:pt idx="183">
                  <c:v>-23.546304</c:v>
                </c:pt>
                <c:pt idx="184">
                  <c:v>-23.5391531</c:v>
                </c:pt>
                <c:pt idx="185">
                  <c:v>-23.5472117</c:v>
                </c:pt>
                <c:pt idx="186">
                  <c:v>-23.546304</c:v>
                </c:pt>
                <c:pt idx="187">
                  <c:v>-23.5431793</c:v>
                </c:pt>
                <c:pt idx="188">
                  <c:v>-23.5450875</c:v>
                </c:pt>
                <c:pt idx="189">
                  <c:v>-23.5450875</c:v>
                </c:pt>
                <c:pt idx="190">
                  <c:v>-23.5524202</c:v>
                </c:pt>
                <c:pt idx="191">
                  <c:v>-23.5341308</c:v>
                </c:pt>
                <c:pt idx="192">
                  <c:v>-23.5487937</c:v>
                </c:pt>
                <c:pt idx="193">
                  <c:v>-23.5419449</c:v>
                </c:pt>
                <c:pt idx="194">
                  <c:v>-23.5467872</c:v>
                </c:pt>
                <c:pt idx="195">
                  <c:v>-23.5431793</c:v>
                </c:pt>
                <c:pt idx="196">
                  <c:v>-23.546304</c:v>
                </c:pt>
                <c:pt idx="197">
                  <c:v>-23.5341308</c:v>
                </c:pt>
                <c:pt idx="198">
                  <c:v>-23.5489467</c:v>
                </c:pt>
                <c:pt idx="199">
                  <c:v>-23.5455897</c:v>
                </c:pt>
                <c:pt idx="200">
                  <c:v>-23.5470797</c:v>
                </c:pt>
                <c:pt idx="201">
                  <c:v>-23.5455897</c:v>
                </c:pt>
                <c:pt idx="202">
                  <c:v>-23.5378261</c:v>
                </c:pt>
                <c:pt idx="203">
                  <c:v>-23.5497049</c:v>
                </c:pt>
                <c:pt idx="204">
                  <c:v>-23.5525773</c:v>
                </c:pt>
                <c:pt idx="205">
                  <c:v>-23.546304</c:v>
                </c:pt>
                <c:pt idx="206">
                  <c:v>-23.5433991</c:v>
                </c:pt>
                <c:pt idx="207">
                  <c:v>-23.5463768</c:v>
                </c:pt>
                <c:pt idx="208">
                  <c:v>-23.5507284</c:v>
                </c:pt>
                <c:pt idx="209">
                  <c:v>-23.5447292</c:v>
                </c:pt>
                <c:pt idx="210">
                  <c:v>-23.5450875</c:v>
                </c:pt>
                <c:pt idx="211">
                  <c:v>-23.5533239</c:v>
                </c:pt>
                <c:pt idx="212">
                  <c:v>-23.5447292</c:v>
                </c:pt>
                <c:pt idx="213">
                  <c:v>-23.5524202</c:v>
                </c:pt>
                <c:pt idx="214">
                  <c:v>-23.546304</c:v>
                </c:pt>
                <c:pt idx="215">
                  <c:v>-23.5535691</c:v>
                </c:pt>
                <c:pt idx="216">
                  <c:v>-23.5483831</c:v>
                </c:pt>
                <c:pt idx="217">
                  <c:v>-23.5421838</c:v>
                </c:pt>
                <c:pt idx="218">
                  <c:v>-23.5460804</c:v>
                </c:pt>
                <c:pt idx="219">
                  <c:v>-23.5421838</c:v>
                </c:pt>
                <c:pt idx="220">
                  <c:v>-23.5514258</c:v>
                </c:pt>
                <c:pt idx="221">
                  <c:v>-23.5433991</c:v>
                </c:pt>
                <c:pt idx="222">
                  <c:v>-23.5447292</c:v>
                </c:pt>
                <c:pt idx="223">
                  <c:v>-23.5648891</c:v>
                </c:pt>
                <c:pt idx="224">
                  <c:v>-23.5469565</c:v>
                </c:pt>
                <c:pt idx="225">
                  <c:v>-23.5450875</c:v>
                </c:pt>
                <c:pt idx="226">
                  <c:v>-23.5529723</c:v>
                </c:pt>
                <c:pt idx="227">
                  <c:v>-23.5455444</c:v>
                </c:pt>
                <c:pt idx="228">
                  <c:v>-23.5586847</c:v>
                </c:pt>
                <c:pt idx="229">
                  <c:v>-23.5460461</c:v>
                </c:pt>
                <c:pt idx="230">
                  <c:v>-23.5483831</c:v>
                </c:pt>
                <c:pt idx="231">
                  <c:v>-23.538687</c:v>
                </c:pt>
                <c:pt idx="232">
                  <c:v>-23.5454012</c:v>
                </c:pt>
                <c:pt idx="233">
                  <c:v>-23.5455897</c:v>
                </c:pt>
                <c:pt idx="234">
                  <c:v>-23.546304</c:v>
                </c:pt>
                <c:pt idx="235">
                  <c:v>-23.546304</c:v>
                </c:pt>
                <c:pt idx="236">
                  <c:v>-23.5507284</c:v>
                </c:pt>
                <c:pt idx="237">
                  <c:v>-23.5533239</c:v>
                </c:pt>
                <c:pt idx="238">
                  <c:v>-23.5473422</c:v>
                </c:pt>
                <c:pt idx="239">
                  <c:v>-23.568835</c:v>
                </c:pt>
                <c:pt idx="240">
                  <c:v>-23.5509581</c:v>
                </c:pt>
                <c:pt idx="241">
                  <c:v>-23.5496503</c:v>
                </c:pt>
                <c:pt idx="242">
                  <c:v>-23.5183172</c:v>
                </c:pt>
                <c:pt idx="243">
                  <c:v>-23.5223397</c:v>
                </c:pt>
                <c:pt idx="244">
                  <c:v>-23.5245011</c:v>
                </c:pt>
                <c:pt idx="245">
                  <c:v>-23.5212455</c:v>
                </c:pt>
                <c:pt idx="246">
                  <c:v>-23.5211302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-46.6"/>
          <c:min val="-46.76"/>
        </c:scaling>
        <c:delete val="0"/>
        <c:axPos val="b"/>
        <c:majorGridlines>
          <c:spPr>
            <a:ln w="9525">
              <a:solidFill>
                <a:srgbClr val="E3E8EE"/>
              </a:solidFill>
            </a:ln>
          </c:spPr>
        </c:majorGridlines>
        <c:numFmt formatCode="0.00" sourceLinked="0"/>
        <c:majorTickMark val="none"/>
        <c:minorTickMark val="none"/>
        <c:tickLblPos val="none"/>
        <c:spPr>
          <a:ln w="9525">
            <a:solidFill>
              <a:srgbClr val="CBD4DE"/>
            </a:solidFill>
          </a:ln>
        </c:spPr>
        <c:crossAx val="-2129643912"/>
        <c:crosses val="min"/>
        <c:crossBetween val="midCat"/>
        <c:txPr>
          <a:bodyPr/>
          <a:lstStyle/>
          <a:p>
            <a:pPr>
              <a:defRPr sz="1200" b="0">
                <a:solidFill>
                  <a:srgbClr val="5B6775"/>
                </a:solidFill>
                <a:latin typeface="Calibri"/>
              </a:defRPr>
            </a:pPr>
            <a:endParaRPr lang="pt-BR"/>
          </a:p>
        </c:txPr>
        <c:majorUnit val="0.04"/>
      </c:valAx>
      <c:valAx>
        <c:axId val="-2129643912"/>
        <c:scaling>
          <c:orientation val="minMax"/>
          <c:max val="-23.5"/>
          <c:min val="-23.68"/>
        </c:scaling>
        <c:delete val="0"/>
        <c:axPos val="l"/>
        <c:majorGridlines>
          <c:spPr>
            <a:ln w="9525">
              <a:solidFill>
                <a:srgbClr val="E3E8EE"/>
              </a:solidFill>
            </a:ln>
          </c:spPr>
        </c:majorGridlines>
        <c:numFmt formatCode="0.00" sourceLinked="0"/>
        <c:majorTickMark val="none"/>
        <c:minorTickMark val="none"/>
        <c:tickLblPos val="none"/>
        <c:spPr>
          <a:ln w="9525">
            <a:solidFill>
              <a:srgbClr val="CBD4DE"/>
            </a:solidFill>
          </a:ln>
        </c:spPr>
        <c:crossAx val="-2128940872"/>
        <c:crosses val="min"/>
        <c:crossBetween val="midCat"/>
        <c:txPr>
          <a:bodyPr/>
          <a:lstStyle/>
          <a:p>
            <a:pPr>
              <a:defRPr sz="1200" b="0">
                <a:solidFill>
                  <a:srgbClr val="5B6775"/>
                </a:solidFill>
                <a:latin typeface="Calibri"/>
              </a:defRPr>
            </a:pPr>
            <a:endParaRPr lang="pt-BR"/>
          </a:p>
        </c:txPr>
        <c:majorUnit val="0.04"/>
      </c:valAx>
      <c:spPr>
        <a:noFill/>
        <a:ln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B3658"/>
            </a:solidFill>
            <a:ln>
              <a:noFill/>
            </a:ln>
          </c:spPr>
          <c:dPt>
            <c:idx val="4"/>
            <c:invertIfNegative val="0"/>
            <c:bubble3D val="0"/>
            <c:spPr>
              <a:solidFill>
                <a:srgbClr val="A9B4C0"/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rgbClr val="F0A81C"/>
              </a:solidFill>
              <a:ln>
                <a:noFill/>
              </a:ln>
            </c:spPr>
          </c:dPt>
          <c:dPt>
            <c:idx val="10"/>
            <c:invertIfNegative val="0"/>
            <c:bubble3D val="0"/>
            <c:spPr>
              <a:solidFill>
                <a:srgbClr val="BB1F2C"/>
              </a:solidFill>
              <a:ln>
                <a:noFill/>
              </a:ln>
            </c:spPr>
          </c:dPt>
          <c:cat>
            <c:strRef>
              <c:f>Sheet1!$A$2:$A$12</c:f>
              <c:strCache>
                <c:ptCount val="11"/>
                <c:pt idx="0">
                  <c:v>Ch. S. Antônio · 6</c:v>
                </c:pt>
                <c:pt idx="1">
                  <c:v>Jardins · 12</c:v>
                </c:pt>
                <c:pt idx="2">
                  <c:v>JK · 9</c:v>
                </c:pt>
                <c:pt idx="3">
                  <c:v>Paulista · 24</c:v>
                </c:pt>
                <c:pt idx="4">
                  <c:v>M. Pinheiros · 4</c:v>
                </c:pt>
                <c:pt idx="5">
                  <c:v>Chucri Zaidan · 24</c:v>
                </c:pt>
                <c:pt idx="6">
                  <c:v>Barra Funda · 13</c:v>
                </c:pt>
                <c:pt idx="7">
                  <c:v>Itaim · 23</c:v>
                </c:pt>
                <c:pt idx="8">
                  <c:v>Faria Lima · 23</c:v>
                </c:pt>
                <c:pt idx="9">
                  <c:v>V. Olímpia · 38</c:v>
                </c:pt>
                <c:pt idx="10">
                  <c:v>Centro · 71</c:v>
                </c:pt>
              </c:strCache>
            </c:strRef>
          </c:cat>
          <c:val>
            <c:numRef>
              <c:f>Sheet1!$B$2:$B$12</c:f>
              <c:numCache>
                <c:formatCode>0.00</c:formatCode>
                <c:ptCount val="11"/>
                <c:pt idx="0">
                  <c:v>6.02</c:v>
                </c:pt>
                <c:pt idx="1">
                  <c:v>6.09</c:v>
                </c:pt>
                <c:pt idx="2">
                  <c:v>6.21</c:v>
                </c:pt>
                <c:pt idx="3">
                  <c:v>6.51</c:v>
                </c:pt>
                <c:pt idx="4">
                  <c:v>6.6</c:v>
                </c:pt>
                <c:pt idx="5">
                  <c:v>6.84</c:v>
                </c:pt>
                <c:pt idx="6">
                  <c:v>6.97</c:v>
                </c:pt>
                <c:pt idx="7">
                  <c:v>7.11</c:v>
                </c:pt>
                <c:pt idx="8">
                  <c:v>7.13</c:v>
                </c:pt>
                <c:pt idx="9">
                  <c:v>8.87</c:v>
                </c:pt>
                <c:pt idx="10">
                  <c:v>9.31</c:v>
                </c:pt>
              </c:numCache>
            </c:numRef>
          </c:val>
        </c:ser>
        <c:dLbls>
          <c:numFmt formatCode="0.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  <c:txPr>
            <a:bodyPr/>
            <a:lstStyle/>
            <a:p>
              <a:pPr>
                <a:defRPr sz="1200" b="1">
                  <a:solidFill>
                    <a:srgbClr val="0B3658"/>
                  </a:solidFill>
                  <a:latin typeface="Calibri"/>
                </a:defRPr>
              </a:pPr>
              <a:endParaRPr lang="pt-BR"/>
            </a:p>
          </c:txPr>
        </c:dLbls>
        <c:gapWidth val="5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BD4DE"/>
            </a:solidFill>
          </a:ln>
        </c:spPr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1200" b="0">
                <a:solidFill>
                  <a:srgbClr val="5B6775"/>
                </a:solidFill>
                <a:latin typeface="Calibri"/>
              </a:defRPr>
            </a:pPr>
            <a:endParaRPr lang="pt-BR"/>
          </a:p>
        </c:txPr>
      </c:catAx>
      <c:valAx>
        <c:axId val="-2113994440"/>
        <c:scaling>
          <c:max val="10.0"/>
          <c:min val="0.0"/>
        </c:scaling>
        <c:delete val="1"/>
        <c:axPos val="b"/>
        <c:majorGridlines>
          <c:spPr>
            <a:ln w="9525">
              <a:solidFill>
                <a:srgbClr val="E3E8EE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B3658"/>
            </a:solidFill>
            <a:ln>
              <a:noFill/>
            </a:ln>
          </c:spPr>
          <c:dPt>
            <c:idx val="3"/>
            <c:invertIfNegative val="0"/>
            <c:bubble3D val="0"/>
            <c:spPr>
              <a:solidFill>
                <a:srgbClr val="F0A81C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0B3658"/>
                        </a:solidFill>
                        <a:latin typeface="Calibri"/>
                      </a:rPr>
                      <a:t>0,296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0B3658"/>
                        </a:solidFill>
                        <a:latin typeface="Calibri"/>
                      </a:rPr>
                      <a:t>0,354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0B3658"/>
                        </a:solidFill>
                        <a:latin typeface="Calibri"/>
                      </a:rPr>
                      <a:t>0,375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0B3658"/>
                        </a:solidFill>
                        <a:latin typeface="Calibri"/>
                      </a:rPr>
                      <a:t>0,401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Área útil</c:v>
                </c:pt>
                <c:pt idx="1">
                  <c:v>Região</c:v>
                </c:pt>
                <c:pt idx="2">
                  <c:v>Padrão construtivo</c:v>
                </c:pt>
                <c:pt idx="3">
                  <c:v>Conservação</c:v>
                </c:pt>
              </c:strCache>
            </c:strRef>
          </c:cat>
          <c:val>
            <c:numRef>
              <c:f>Sheet1!$B$2:$B$5</c:f>
              <c:numCache>
                <c:formatCode>0.000</c:formatCode>
                <c:ptCount val="4"/>
                <c:pt idx="0">
                  <c:v>0.296</c:v>
                </c:pt>
                <c:pt idx="1">
                  <c:v>0.354</c:v>
                </c:pt>
                <c:pt idx="2">
                  <c:v>0.375</c:v>
                </c:pt>
                <c:pt idx="3">
                  <c:v>0.401</c:v>
                </c:pt>
              </c:numCache>
            </c:numRef>
          </c:val>
        </c:ser>
        <c:dLbls>
          <c:numFmt formatCode="0.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  <c:txPr>
            <a:bodyPr/>
            <a:lstStyle/>
            <a:p>
              <a:pPr>
                <a:defRPr sz="1250" b="1">
                  <a:solidFill>
                    <a:srgbClr val="0B3658"/>
                  </a:solidFill>
                  <a:latin typeface="Calibri"/>
                </a:defRPr>
              </a:pPr>
              <a:endParaRPr lang="pt-BR"/>
            </a:p>
          </c:txPr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BD4DE"/>
            </a:solidFill>
          </a:ln>
        </c:spPr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1250" b="0">
                <a:solidFill>
                  <a:srgbClr val="5B6775"/>
                </a:solidFill>
                <a:latin typeface="Calibri"/>
              </a:defRPr>
            </a:pPr>
            <a:endParaRPr lang="pt-BR"/>
          </a:p>
        </c:txPr>
      </c:catAx>
      <c:valAx>
        <c:axId val="-2113994440"/>
        <c:scaling>
          <c:max val="0.5"/>
          <c:min val="0.0"/>
        </c:scaling>
        <c:delete val="1"/>
        <c:axPos val="b"/>
        <c:majorGridlines>
          <c:spPr>
            <a:ln w="9525">
              <a:solidFill>
                <a:srgbClr val="E3E8EE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B3658"/>
            </a:solidFill>
            <a:ln>
              <a:noFill/>
            </a:ln>
          </c:spPr>
          <c:dPt>
            <c:idx val="0"/>
            <c:invertIfNegative val="0"/>
            <c:bubble3D val="0"/>
            <c:spPr>
              <a:solidFill>
                <a:srgbClr val="A9B4C0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0B3658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F0A81C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3658"/>
                        </a:solidFill>
                        <a:latin typeface="Calibri"/>
                      </a:rPr>
                      <a:t>0,0035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3658"/>
                        </a:solidFill>
                        <a:latin typeface="Calibri"/>
                      </a:rPr>
                      <a:t>0,5144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3658"/>
                        </a:solidFill>
                        <a:latin typeface="Calibri"/>
                      </a:rPr>
                      <a:t>0,4217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Ridge</c:v>
                </c:pt>
                <c:pt idx="1">
                  <c:v>Árvore</c:v>
                </c:pt>
                <c:pt idx="2">
                  <c:v>MLP</c:v>
                </c:pt>
              </c:strCache>
            </c:strRef>
          </c:cat>
          <c:val>
            <c:numRef>
              <c:f>Sheet1!$B$2:$B$4</c:f>
              <c:numCache>
                <c:formatCode>0.0000</c:formatCode>
                <c:ptCount val="3"/>
                <c:pt idx="0">
                  <c:v>0.0035</c:v>
                </c:pt>
                <c:pt idx="1">
                  <c:v>0.5144</c:v>
                </c:pt>
                <c:pt idx="2">
                  <c:v>0.4217</c:v>
                </c:pt>
              </c:numCache>
            </c:numRef>
          </c:val>
        </c:ser>
        <c:dLbls>
          <c:numFmt formatCode="0.0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  <c:txPr>
            <a:bodyPr/>
            <a:lstStyle/>
            <a:p>
              <a:pPr>
                <a:defRPr sz="1300" b="1">
                  <a:solidFill>
                    <a:srgbClr val="0B3658"/>
                  </a:solidFill>
                  <a:latin typeface="Calibri"/>
                </a:defRPr>
              </a:pPr>
              <a:endParaRPr lang="pt-BR"/>
            </a:p>
          </c:txPr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BD4DE"/>
            </a:solidFill>
          </a:ln>
        </c:spPr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1400" b="0">
                <a:solidFill>
                  <a:srgbClr val="5B6775"/>
                </a:solidFill>
                <a:latin typeface="Calibri"/>
              </a:defRPr>
            </a:pPr>
            <a:endParaRPr lang="pt-BR"/>
          </a:p>
        </c:txPr>
      </c:catAx>
      <c:valAx>
        <c:axId val="-2113994440"/>
        <c:scaling>
          <c:max val="0.6"/>
          <c:min val="0.0"/>
        </c:scaling>
        <c:delete val="1"/>
        <c:axPos val="l"/>
        <c:majorGridlines>
          <c:spPr>
            <a:ln w="9525">
              <a:solidFill>
                <a:srgbClr val="E3E8EE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B3658"/>
            </a:solidFill>
            <a:ln>
              <a:noFill/>
            </a:ln>
          </c:spPr>
          <c:dPt>
            <c:idx val="1"/>
            <c:invertIfNegative val="0"/>
            <c:bubble3D val="0"/>
            <c:spPr>
              <a:solidFill>
                <a:srgbClr val="6F8296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F0A81C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3658"/>
                        </a:solidFill>
                        <a:latin typeface="Calibri"/>
                      </a:rPr>
                      <a:t>2,5266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3658"/>
                        </a:solidFill>
                        <a:latin typeface="Calibri"/>
                      </a:rPr>
                      <a:t>2,4241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3658"/>
                        </a:solidFill>
                        <a:latin typeface="Calibri"/>
                      </a:rPr>
                      <a:t>2,5907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3658"/>
                        </a:solidFill>
                        <a:latin typeface="Calibri"/>
                      </a:rPr>
                      <a:t>2,3933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Ridge</c:v>
                </c:pt>
                <c:pt idx="1">
                  <c:v>Árvore</c:v>
                </c:pt>
                <c:pt idx="2">
                  <c:v>MLP</c:v>
                </c:pt>
                <c:pt idx="3">
                  <c:v>Combinação</c:v>
                </c:pt>
              </c:strCache>
            </c:strRef>
          </c:cat>
          <c:val>
            <c:numRef>
              <c:f>Sheet1!$B$2:$B$5</c:f>
              <c:numCache>
                <c:formatCode>0.0000</c:formatCode>
                <c:ptCount val="4"/>
                <c:pt idx="0">
                  <c:v>2.5266</c:v>
                </c:pt>
                <c:pt idx="1">
                  <c:v>2.4241</c:v>
                </c:pt>
                <c:pt idx="2">
                  <c:v>2.5907</c:v>
                </c:pt>
                <c:pt idx="3">
                  <c:v>2.3933</c:v>
                </c:pt>
              </c:numCache>
            </c:numRef>
          </c:val>
        </c:ser>
        <c:dLbls>
          <c:numFmt formatCode="0.0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  <c:txPr>
            <a:bodyPr/>
            <a:lstStyle/>
            <a:p>
              <a:pPr>
                <a:defRPr sz="1300" b="1">
                  <a:solidFill>
                    <a:srgbClr val="0B3658"/>
                  </a:solidFill>
                  <a:latin typeface="Calibri"/>
                </a:defRPr>
              </a:pPr>
              <a:endParaRPr lang="pt-BR"/>
            </a:p>
          </c:txPr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BD4DE"/>
            </a:solidFill>
          </a:ln>
        </c:spPr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1400" b="0">
                <a:solidFill>
                  <a:srgbClr val="5B6775"/>
                </a:solidFill>
                <a:latin typeface="Calibri"/>
              </a:defRPr>
            </a:pPr>
            <a:endParaRPr lang="pt-BR"/>
          </a:p>
        </c:txPr>
      </c:catAx>
      <c:valAx>
        <c:axId val="-2113994440"/>
        <c:scaling>
          <c:max val="3.0"/>
          <c:min val="0.0"/>
        </c:scaling>
        <c:delete val="1"/>
        <c:axPos val="l"/>
        <c:majorGridlines>
          <c:spPr>
            <a:ln w="9525">
              <a:solidFill>
                <a:srgbClr val="E3E8EE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B3658"/>
            </a:solidFill>
            <a:ln>
              <a:noFill/>
            </a:ln>
          </c:spPr>
          <c:dPt>
            <c:idx val="3"/>
            <c:invertIfNegative val="0"/>
            <c:bubble3D val="0"/>
            <c:spPr>
              <a:solidFill>
                <a:srgbClr val="F0A81C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3658"/>
                        </a:solidFill>
                        <a:latin typeface="Calibri"/>
                      </a:rPr>
                      <a:t>0,127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3658"/>
                        </a:solidFill>
                        <a:latin typeface="Calibri"/>
                      </a:rPr>
                      <a:t>0,163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3658"/>
                        </a:solidFill>
                        <a:latin typeface="Calibri"/>
                      </a:rPr>
                      <a:t>0,271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3658"/>
                        </a:solidFill>
                        <a:latin typeface="Calibri"/>
                      </a:rPr>
                      <a:t>0,369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Estado de conservação</c:v>
                </c:pt>
                <c:pt idx="1">
                  <c:v>Área útil</c:v>
                </c:pt>
                <c:pt idx="2">
                  <c:v>Padrão construtivo</c:v>
                </c:pt>
                <c:pt idx="3">
                  <c:v>Vila Olímpia</c:v>
                </c:pt>
              </c:strCache>
            </c:strRef>
          </c:cat>
          <c:val>
            <c:numRef>
              <c:f>Sheet1!$B$2:$B$5</c:f>
              <c:numCache>
                <c:formatCode>0.000</c:formatCode>
                <c:ptCount val="4"/>
                <c:pt idx="0">
                  <c:v>0.127</c:v>
                </c:pt>
                <c:pt idx="1">
                  <c:v>0.163</c:v>
                </c:pt>
                <c:pt idx="2">
                  <c:v>0.271</c:v>
                </c:pt>
                <c:pt idx="3">
                  <c:v>0.369</c:v>
                </c:pt>
              </c:numCache>
            </c:numRef>
          </c:val>
        </c:ser>
        <c:dLbls>
          <c:numFmt formatCode="0.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  <c:txPr>
            <a:bodyPr/>
            <a:lstStyle/>
            <a:p>
              <a:pPr>
                <a:defRPr sz="1300" b="1">
                  <a:solidFill>
                    <a:srgbClr val="0B3658"/>
                  </a:solidFill>
                  <a:latin typeface="Calibri"/>
                </a:defRPr>
              </a:pPr>
              <a:endParaRPr lang="pt-BR"/>
            </a:p>
          </c:txPr>
        </c:dLbls>
        <c:gapWidth val="5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BD4DE"/>
            </a:solidFill>
          </a:ln>
        </c:spPr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1300" b="0">
                <a:solidFill>
                  <a:srgbClr val="5B6775"/>
                </a:solidFill>
                <a:latin typeface="Calibri"/>
              </a:defRPr>
            </a:pPr>
            <a:endParaRPr lang="pt-BR"/>
          </a:p>
        </c:txPr>
      </c:catAx>
      <c:valAx>
        <c:axId val="-2113994440"/>
        <c:scaling>
          <c:max val="0.45"/>
          <c:min val="0.0"/>
        </c:scaling>
        <c:delete val="1"/>
        <c:axPos val="b"/>
        <c:majorGridlines>
          <c:spPr>
            <a:ln w="9525">
              <a:solidFill>
                <a:srgbClr val="E3E8EE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Observações</c:v>
                </c:pt>
              </c:strCache>
            </c:strRef>
          </c:tx>
          <c:spPr>
            <a:ln w="0">
              <a:noFill/>
            </a:ln>
          </c:spPr>
          <c:marker>
            <c:symbol val="circle"/>
            <c:size val="5"/>
            <c:spPr>
              <a:solidFill>
                <a:srgbClr val="0B3658">
                  <a:alpha val="62000"/>
                </a:srgbClr>
              </a:solidFill>
              <a:ln w="0">
                <a:noFill/>
              </a:ln>
            </c:spPr>
          </c:marker>
          <c:xVal>
            <c:numRef>
              <c:f>Sheet1!$A$2:$A$248</c:f>
              <c:numCache>
                <c:formatCode>General</c:formatCode>
                <c:ptCount val="247"/>
                <c:pt idx="0">
                  <c:v>14.6193</c:v>
                </c:pt>
                <c:pt idx="1">
                  <c:v>14.6192</c:v>
                </c:pt>
                <c:pt idx="2">
                  <c:v>9.6386</c:v>
                </c:pt>
                <c:pt idx="3">
                  <c:v>9.6386</c:v>
                </c:pt>
                <c:pt idx="4">
                  <c:v>9.2337</c:v>
                </c:pt>
                <c:pt idx="5">
                  <c:v>9.2308</c:v>
                </c:pt>
                <c:pt idx="6">
                  <c:v>9.0002</c:v>
                </c:pt>
                <c:pt idx="7">
                  <c:v>8.9095</c:v>
                </c:pt>
                <c:pt idx="8">
                  <c:v>8.9005</c:v>
                </c:pt>
                <c:pt idx="9">
                  <c:v>8.64</c:v>
                </c:pt>
                <c:pt idx="10">
                  <c:v>8.4005</c:v>
                </c:pt>
                <c:pt idx="11">
                  <c:v>8.4001</c:v>
                </c:pt>
                <c:pt idx="12">
                  <c:v>8.4</c:v>
                </c:pt>
                <c:pt idx="13">
                  <c:v>8.3077</c:v>
                </c:pt>
                <c:pt idx="14">
                  <c:v>8.1633</c:v>
                </c:pt>
                <c:pt idx="15">
                  <c:v>8.1633</c:v>
                </c:pt>
                <c:pt idx="16">
                  <c:v>8.0537</c:v>
                </c:pt>
                <c:pt idx="17">
                  <c:v>8.0181</c:v>
                </c:pt>
                <c:pt idx="18">
                  <c:v>7.965</c:v>
                </c:pt>
                <c:pt idx="19">
                  <c:v>7.8961</c:v>
                </c:pt>
                <c:pt idx="20">
                  <c:v>7.8954</c:v>
                </c:pt>
                <c:pt idx="21">
                  <c:v>7.8715</c:v>
                </c:pt>
                <c:pt idx="22">
                  <c:v>7.7143</c:v>
                </c:pt>
                <c:pt idx="23">
                  <c:v>7.6271</c:v>
                </c:pt>
                <c:pt idx="24">
                  <c:v>7.5789</c:v>
                </c:pt>
                <c:pt idx="25">
                  <c:v>7.5082</c:v>
                </c:pt>
                <c:pt idx="26">
                  <c:v>7.5082</c:v>
                </c:pt>
                <c:pt idx="27">
                  <c:v>7.3698</c:v>
                </c:pt>
                <c:pt idx="28">
                  <c:v>7.3239</c:v>
                </c:pt>
                <c:pt idx="29">
                  <c:v>7.1999</c:v>
                </c:pt>
                <c:pt idx="30">
                  <c:v>7.1579</c:v>
                </c:pt>
                <c:pt idx="31">
                  <c:v>7.1579</c:v>
                </c:pt>
                <c:pt idx="32">
                  <c:v>7.091</c:v>
                </c:pt>
                <c:pt idx="33">
                  <c:v>7.0907</c:v>
                </c:pt>
                <c:pt idx="34">
                  <c:v>7.0</c:v>
                </c:pt>
                <c:pt idx="35">
                  <c:v>6.9888</c:v>
                </c:pt>
                <c:pt idx="36">
                  <c:v>6.9</c:v>
                </c:pt>
                <c:pt idx="37">
                  <c:v>6.8571</c:v>
                </c:pt>
                <c:pt idx="38">
                  <c:v>6.8571</c:v>
                </c:pt>
                <c:pt idx="39">
                  <c:v>6.8423</c:v>
                </c:pt>
                <c:pt idx="40">
                  <c:v>6.8003</c:v>
                </c:pt>
                <c:pt idx="41">
                  <c:v>6.7923</c:v>
                </c:pt>
                <c:pt idx="42">
                  <c:v>6.7712</c:v>
                </c:pt>
                <c:pt idx="43">
                  <c:v>6.6977</c:v>
                </c:pt>
                <c:pt idx="44">
                  <c:v>6.6667</c:v>
                </c:pt>
                <c:pt idx="45">
                  <c:v>6.5716</c:v>
                </c:pt>
                <c:pt idx="46">
                  <c:v>6.545</c:v>
                </c:pt>
                <c:pt idx="47">
                  <c:v>6.455</c:v>
                </c:pt>
                <c:pt idx="48">
                  <c:v>6.4286</c:v>
                </c:pt>
                <c:pt idx="49">
                  <c:v>6.4286</c:v>
                </c:pt>
                <c:pt idx="50">
                  <c:v>6.4</c:v>
                </c:pt>
                <c:pt idx="51">
                  <c:v>6.3861</c:v>
                </c:pt>
                <c:pt idx="52">
                  <c:v>6.3861</c:v>
                </c:pt>
                <c:pt idx="53">
                  <c:v>6.3529</c:v>
                </c:pt>
                <c:pt idx="54">
                  <c:v>6.3158</c:v>
                </c:pt>
                <c:pt idx="55">
                  <c:v>6.3158</c:v>
                </c:pt>
                <c:pt idx="56">
                  <c:v>6.2997</c:v>
                </c:pt>
                <c:pt idx="57">
                  <c:v>6.2909</c:v>
                </c:pt>
                <c:pt idx="58">
                  <c:v>6.2317</c:v>
                </c:pt>
                <c:pt idx="59">
                  <c:v>6.2304</c:v>
                </c:pt>
                <c:pt idx="60">
                  <c:v>6.1699</c:v>
                </c:pt>
                <c:pt idx="61">
                  <c:v>6.1648</c:v>
                </c:pt>
                <c:pt idx="62">
                  <c:v>6.0403</c:v>
                </c:pt>
                <c:pt idx="63">
                  <c:v>6.0</c:v>
                </c:pt>
                <c:pt idx="64">
                  <c:v>6.0</c:v>
                </c:pt>
                <c:pt idx="65">
                  <c:v>6.0</c:v>
                </c:pt>
                <c:pt idx="66">
                  <c:v>6.0</c:v>
                </c:pt>
                <c:pt idx="67">
                  <c:v>6.0</c:v>
                </c:pt>
                <c:pt idx="68">
                  <c:v>5.9997</c:v>
                </c:pt>
                <c:pt idx="69">
                  <c:v>5.9</c:v>
                </c:pt>
                <c:pt idx="70">
                  <c:v>5.85</c:v>
                </c:pt>
                <c:pt idx="71">
                  <c:v>5.7387</c:v>
                </c:pt>
                <c:pt idx="72">
                  <c:v>5.7139</c:v>
                </c:pt>
                <c:pt idx="73">
                  <c:v>5.6</c:v>
                </c:pt>
                <c:pt idx="74">
                  <c:v>5.5809</c:v>
                </c:pt>
                <c:pt idx="75">
                  <c:v>5.5711</c:v>
                </c:pt>
                <c:pt idx="76">
                  <c:v>5.5263</c:v>
                </c:pt>
                <c:pt idx="77">
                  <c:v>5.5263</c:v>
                </c:pt>
                <c:pt idx="78">
                  <c:v>5.5172</c:v>
                </c:pt>
                <c:pt idx="79">
                  <c:v>5.3455</c:v>
                </c:pt>
                <c:pt idx="80">
                  <c:v>5.3455</c:v>
                </c:pt>
                <c:pt idx="81">
                  <c:v>5.2803</c:v>
                </c:pt>
                <c:pt idx="82">
                  <c:v>5.222</c:v>
                </c:pt>
                <c:pt idx="83">
                  <c:v>5.2145</c:v>
                </c:pt>
                <c:pt idx="84">
                  <c:v>5.2</c:v>
                </c:pt>
                <c:pt idx="85">
                  <c:v>5.1955</c:v>
                </c:pt>
                <c:pt idx="86">
                  <c:v>5.1429</c:v>
                </c:pt>
                <c:pt idx="87">
                  <c:v>5.0545</c:v>
                </c:pt>
                <c:pt idx="88">
                  <c:v>4.945</c:v>
                </c:pt>
                <c:pt idx="89">
                  <c:v>4.8</c:v>
                </c:pt>
                <c:pt idx="90">
                  <c:v>4.7851</c:v>
                </c:pt>
                <c:pt idx="91">
                  <c:v>4.7547</c:v>
                </c:pt>
                <c:pt idx="92">
                  <c:v>4.6154</c:v>
                </c:pt>
                <c:pt idx="93">
                  <c:v>4.6154</c:v>
                </c:pt>
                <c:pt idx="94">
                  <c:v>4.5099</c:v>
                </c:pt>
                <c:pt idx="95">
                  <c:v>4.5004</c:v>
                </c:pt>
                <c:pt idx="96">
                  <c:v>4.4004</c:v>
                </c:pt>
                <c:pt idx="97">
                  <c:v>4.3999</c:v>
                </c:pt>
                <c:pt idx="98">
                  <c:v>4.1954</c:v>
                </c:pt>
                <c:pt idx="99">
                  <c:v>6.3429</c:v>
                </c:pt>
                <c:pt idx="100">
                  <c:v>6.0</c:v>
                </c:pt>
                <c:pt idx="101">
                  <c:v>6.2609</c:v>
                </c:pt>
                <c:pt idx="102">
                  <c:v>12.8571</c:v>
                </c:pt>
                <c:pt idx="103">
                  <c:v>7.35</c:v>
                </c:pt>
                <c:pt idx="104">
                  <c:v>8.3636</c:v>
                </c:pt>
                <c:pt idx="105">
                  <c:v>6.8</c:v>
                </c:pt>
                <c:pt idx="106">
                  <c:v>4.6666</c:v>
                </c:pt>
                <c:pt idx="107">
                  <c:v>17.1428</c:v>
                </c:pt>
                <c:pt idx="108">
                  <c:v>5.0141</c:v>
                </c:pt>
                <c:pt idx="109">
                  <c:v>11.8652</c:v>
                </c:pt>
                <c:pt idx="110">
                  <c:v>4.6154</c:v>
                </c:pt>
                <c:pt idx="111">
                  <c:v>3.1429</c:v>
                </c:pt>
                <c:pt idx="112">
                  <c:v>5.761</c:v>
                </c:pt>
                <c:pt idx="113">
                  <c:v>6.7045</c:v>
                </c:pt>
                <c:pt idx="114">
                  <c:v>12.0</c:v>
                </c:pt>
                <c:pt idx="115">
                  <c:v>3.8709</c:v>
                </c:pt>
                <c:pt idx="116">
                  <c:v>3.18</c:v>
                </c:pt>
                <c:pt idx="117">
                  <c:v>13.2631</c:v>
                </c:pt>
                <c:pt idx="118">
                  <c:v>17.1428</c:v>
                </c:pt>
                <c:pt idx="119">
                  <c:v>6.9851</c:v>
                </c:pt>
                <c:pt idx="120">
                  <c:v>6.729</c:v>
                </c:pt>
                <c:pt idx="121">
                  <c:v>6.383</c:v>
                </c:pt>
                <c:pt idx="122">
                  <c:v>7.4927</c:v>
                </c:pt>
                <c:pt idx="123">
                  <c:v>3.5625</c:v>
                </c:pt>
                <c:pt idx="124">
                  <c:v>9.4286</c:v>
                </c:pt>
                <c:pt idx="125">
                  <c:v>5.3333</c:v>
                </c:pt>
                <c:pt idx="126">
                  <c:v>6.12</c:v>
                </c:pt>
                <c:pt idx="127">
                  <c:v>6.5762</c:v>
                </c:pt>
                <c:pt idx="128">
                  <c:v>7.0154</c:v>
                </c:pt>
                <c:pt idx="129">
                  <c:v>7.8795</c:v>
                </c:pt>
                <c:pt idx="130">
                  <c:v>8.1016</c:v>
                </c:pt>
                <c:pt idx="131">
                  <c:v>12.3673</c:v>
                </c:pt>
                <c:pt idx="132">
                  <c:v>11.4607</c:v>
                </c:pt>
                <c:pt idx="133">
                  <c:v>6.0914</c:v>
                </c:pt>
                <c:pt idx="134">
                  <c:v>8.6154</c:v>
                </c:pt>
                <c:pt idx="135">
                  <c:v>8.6269</c:v>
                </c:pt>
                <c:pt idx="136">
                  <c:v>9.4286</c:v>
                </c:pt>
                <c:pt idx="137">
                  <c:v>7.3412</c:v>
                </c:pt>
                <c:pt idx="138">
                  <c:v>7.3483</c:v>
                </c:pt>
                <c:pt idx="139">
                  <c:v>5.4367</c:v>
                </c:pt>
                <c:pt idx="140">
                  <c:v>7.0787</c:v>
                </c:pt>
                <c:pt idx="141">
                  <c:v>12.7347</c:v>
                </c:pt>
                <c:pt idx="142">
                  <c:v>7.8667</c:v>
                </c:pt>
                <c:pt idx="143">
                  <c:v>15.0</c:v>
                </c:pt>
                <c:pt idx="144">
                  <c:v>7.5</c:v>
                </c:pt>
                <c:pt idx="145">
                  <c:v>3.4054</c:v>
                </c:pt>
                <c:pt idx="146">
                  <c:v>6.8453</c:v>
                </c:pt>
                <c:pt idx="147">
                  <c:v>8.7273</c:v>
                </c:pt>
                <c:pt idx="148">
                  <c:v>11.1628</c:v>
                </c:pt>
                <c:pt idx="149">
                  <c:v>6.439</c:v>
                </c:pt>
                <c:pt idx="150">
                  <c:v>7.5652</c:v>
                </c:pt>
                <c:pt idx="151">
                  <c:v>13.0</c:v>
                </c:pt>
                <c:pt idx="152">
                  <c:v>7.0909</c:v>
                </c:pt>
                <c:pt idx="153">
                  <c:v>5.25</c:v>
                </c:pt>
                <c:pt idx="154">
                  <c:v>13.8</c:v>
                </c:pt>
                <c:pt idx="155">
                  <c:v>8.8235</c:v>
                </c:pt>
                <c:pt idx="156">
                  <c:v>6.7826</c:v>
                </c:pt>
                <c:pt idx="157">
                  <c:v>6.0</c:v>
                </c:pt>
                <c:pt idx="158">
                  <c:v>7.3881</c:v>
                </c:pt>
                <c:pt idx="159">
                  <c:v>5.1</c:v>
                </c:pt>
                <c:pt idx="160">
                  <c:v>5.2364</c:v>
                </c:pt>
                <c:pt idx="161">
                  <c:v>6.72</c:v>
                </c:pt>
                <c:pt idx="162">
                  <c:v>8.8421</c:v>
                </c:pt>
                <c:pt idx="163">
                  <c:v>4.8</c:v>
                </c:pt>
                <c:pt idx="164">
                  <c:v>4.8237</c:v>
                </c:pt>
                <c:pt idx="165">
                  <c:v>6.6971</c:v>
                </c:pt>
                <c:pt idx="166">
                  <c:v>8.8</c:v>
                </c:pt>
                <c:pt idx="167">
                  <c:v>9.8182</c:v>
                </c:pt>
                <c:pt idx="168">
                  <c:v>7.2021</c:v>
                </c:pt>
                <c:pt idx="169">
                  <c:v>6.7301</c:v>
                </c:pt>
                <c:pt idx="170">
                  <c:v>11.6364</c:v>
                </c:pt>
                <c:pt idx="171">
                  <c:v>11.7188</c:v>
                </c:pt>
                <c:pt idx="172">
                  <c:v>5.1818</c:v>
                </c:pt>
                <c:pt idx="173">
                  <c:v>10.4348</c:v>
                </c:pt>
                <c:pt idx="174">
                  <c:v>8.0</c:v>
                </c:pt>
                <c:pt idx="175">
                  <c:v>6.8571</c:v>
                </c:pt>
                <c:pt idx="176">
                  <c:v>4.0</c:v>
                </c:pt>
                <c:pt idx="177">
                  <c:v>9.2308</c:v>
                </c:pt>
                <c:pt idx="178">
                  <c:v>10.7143</c:v>
                </c:pt>
                <c:pt idx="179">
                  <c:v>6.0</c:v>
                </c:pt>
                <c:pt idx="180">
                  <c:v>17.1429</c:v>
                </c:pt>
                <c:pt idx="181">
                  <c:v>16.0</c:v>
                </c:pt>
                <c:pt idx="182">
                  <c:v>15.1579</c:v>
                </c:pt>
                <c:pt idx="183">
                  <c:v>13.8947</c:v>
                </c:pt>
                <c:pt idx="184">
                  <c:v>9.8182</c:v>
                </c:pt>
                <c:pt idx="185">
                  <c:v>9.6941</c:v>
                </c:pt>
                <c:pt idx="186">
                  <c:v>11.0769</c:v>
                </c:pt>
                <c:pt idx="187">
                  <c:v>7.2857</c:v>
                </c:pt>
                <c:pt idx="188">
                  <c:v>12.5</c:v>
                </c:pt>
                <c:pt idx="189">
                  <c:v>12.5</c:v>
                </c:pt>
                <c:pt idx="190">
                  <c:v>10.4</c:v>
                </c:pt>
                <c:pt idx="191">
                  <c:v>7.5949</c:v>
                </c:pt>
                <c:pt idx="192">
                  <c:v>8.25</c:v>
                </c:pt>
                <c:pt idx="193">
                  <c:v>9.0</c:v>
                </c:pt>
                <c:pt idx="194">
                  <c:v>8.25</c:v>
                </c:pt>
                <c:pt idx="195">
                  <c:v>6.75</c:v>
                </c:pt>
                <c:pt idx="196">
                  <c:v>9.5296</c:v>
                </c:pt>
                <c:pt idx="197">
                  <c:v>8.9286</c:v>
                </c:pt>
                <c:pt idx="198">
                  <c:v>9.9057</c:v>
                </c:pt>
                <c:pt idx="199">
                  <c:v>9.1765</c:v>
                </c:pt>
                <c:pt idx="200">
                  <c:v>10.5882</c:v>
                </c:pt>
                <c:pt idx="201">
                  <c:v>10.5882</c:v>
                </c:pt>
                <c:pt idx="202">
                  <c:v>7.0588</c:v>
                </c:pt>
                <c:pt idx="203">
                  <c:v>15.0</c:v>
                </c:pt>
                <c:pt idx="204">
                  <c:v>8.82</c:v>
                </c:pt>
                <c:pt idx="205">
                  <c:v>18.354</c:v>
                </c:pt>
                <c:pt idx="206">
                  <c:v>6.1165</c:v>
                </c:pt>
                <c:pt idx="207">
                  <c:v>8.0</c:v>
                </c:pt>
                <c:pt idx="208">
                  <c:v>3.4286</c:v>
                </c:pt>
                <c:pt idx="209">
                  <c:v>9.1429</c:v>
                </c:pt>
                <c:pt idx="210">
                  <c:v>11.4286</c:v>
                </c:pt>
                <c:pt idx="211">
                  <c:v>7.6879</c:v>
                </c:pt>
                <c:pt idx="212">
                  <c:v>10.9091</c:v>
                </c:pt>
                <c:pt idx="213">
                  <c:v>7.3636</c:v>
                </c:pt>
                <c:pt idx="214">
                  <c:v>9.8182</c:v>
                </c:pt>
                <c:pt idx="215">
                  <c:v>6.5455</c:v>
                </c:pt>
                <c:pt idx="216">
                  <c:v>9.9563</c:v>
                </c:pt>
                <c:pt idx="217">
                  <c:v>9.3913</c:v>
                </c:pt>
                <c:pt idx="218">
                  <c:v>11.4783</c:v>
                </c:pt>
                <c:pt idx="219">
                  <c:v>10.4348</c:v>
                </c:pt>
                <c:pt idx="220">
                  <c:v>9.3913</c:v>
                </c:pt>
                <c:pt idx="221">
                  <c:v>5.3846</c:v>
                </c:pt>
                <c:pt idx="222">
                  <c:v>11.4783</c:v>
                </c:pt>
                <c:pt idx="223">
                  <c:v>7.0886</c:v>
                </c:pt>
                <c:pt idx="224">
                  <c:v>6.0</c:v>
                </c:pt>
                <c:pt idx="225">
                  <c:v>10.8642</c:v>
                </c:pt>
                <c:pt idx="226">
                  <c:v>4.8</c:v>
                </c:pt>
                <c:pt idx="227">
                  <c:v>11.04</c:v>
                </c:pt>
                <c:pt idx="228">
                  <c:v>9.12</c:v>
                </c:pt>
                <c:pt idx="229">
                  <c:v>7.2</c:v>
                </c:pt>
                <c:pt idx="230">
                  <c:v>12.48</c:v>
                </c:pt>
                <c:pt idx="231">
                  <c:v>5.28</c:v>
                </c:pt>
                <c:pt idx="232">
                  <c:v>12.0</c:v>
                </c:pt>
                <c:pt idx="233">
                  <c:v>6.9231</c:v>
                </c:pt>
                <c:pt idx="234">
                  <c:v>9.2308</c:v>
                </c:pt>
                <c:pt idx="235">
                  <c:v>10.6154</c:v>
                </c:pt>
                <c:pt idx="236">
                  <c:v>6.9231</c:v>
                </c:pt>
                <c:pt idx="237">
                  <c:v>7.4191</c:v>
                </c:pt>
                <c:pt idx="238">
                  <c:v>6.7297</c:v>
                </c:pt>
                <c:pt idx="239">
                  <c:v>4.2857</c:v>
                </c:pt>
                <c:pt idx="240">
                  <c:v>4.1379</c:v>
                </c:pt>
                <c:pt idx="241">
                  <c:v>6.2069</c:v>
                </c:pt>
                <c:pt idx="242">
                  <c:v>8.1818</c:v>
                </c:pt>
                <c:pt idx="243">
                  <c:v>12.766</c:v>
                </c:pt>
                <c:pt idx="244">
                  <c:v>5.1429</c:v>
                </c:pt>
                <c:pt idx="245">
                  <c:v>6.1017</c:v>
                </c:pt>
                <c:pt idx="246">
                  <c:v>6.8517</c:v>
                </c:pt>
              </c:numCache>
            </c:numRef>
          </c:xVal>
          <c:yVal>
            <c:numRef>
              <c:f>Sheet1!$B$2:$B$248</c:f>
              <c:numCache>
                <c:formatCode>General</c:formatCode>
                <c:ptCount val="247"/>
                <c:pt idx="0">
                  <c:v>10.255111383402806</c:v>
                </c:pt>
                <c:pt idx="1">
                  <c:v>9.816489666373164</c:v>
                </c:pt>
                <c:pt idx="2">
                  <c:v>7.535576252751207</c:v>
                </c:pt>
                <c:pt idx="3">
                  <c:v>7.995070669805819</c:v>
                </c:pt>
                <c:pt idx="4">
                  <c:v>6.193670201960195</c:v>
                </c:pt>
                <c:pt idx="5">
                  <c:v>6.975158856255841</c:v>
                </c:pt>
                <c:pt idx="6">
                  <c:v>6.661546972298534</c:v>
                </c:pt>
                <c:pt idx="7">
                  <c:v>8.092607781557255</c:v>
                </c:pt>
                <c:pt idx="8">
                  <c:v>7.373721804035517</c:v>
                </c:pt>
                <c:pt idx="9">
                  <c:v>6.32614637638891</c:v>
                </c:pt>
                <c:pt idx="10">
                  <c:v>7.012947363500443</c:v>
                </c:pt>
                <c:pt idx="11">
                  <c:v>6.638162949934459</c:v>
                </c:pt>
                <c:pt idx="12">
                  <c:v>6.899073149718769</c:v>
                </c:pt>
                <c:pt idx="13">
                  <c:v>6.562772580846799</c:v>
                </c:pt>
                <c:pt idx="14">
                  <c:v>7.0459091842445405</c:v>
                </c:pt>
                <c:pt idx="15">
                  <c:v>7.720612019699357</c:v>
                </c:pt>
                <c:pt idx="16">
                  <c:v>6.27275860655006</c:v>
                </c:pt>
                <c:pt idx="17">
                  <c:v>6.424641880058553</c:v>
                </c:pt>
                <c:pt idx="18">
                  <c:v>6.523934443937424</c:v>
                </c:pt>
                <c:pt idx="19">
                  <c:v>7.136512417077309</c:v>
                </c:pt>
                <c:pt idx="20">
                  <c:v>7.370861254407826</c:v>
                </c:pt>
                <c:pt idx="21">
                  <c:v>6.698233771635107</c:v>
                </c:pt>
                <c:pt idx="22">
                  <c:v>6.121364269658066</c:v>
                </c:pt>
                <c:pt idx="23">
                  <c:v>6.844820013638802</c:v>
                </c:pt>
                <c:pt idx="24">
                  <c:v>6.357632039855003</c:v>
                </c:pt>
                <c:pt idx="25">
                  <c:v>6.6300916736917035</c:v>
                </c:pt>
                <c:pt idx="26">
                  <c:v>6.630188052868423</c:v>
                </c:pt>
                <c:pt idx="27">
                  <c:v>6.170687353974777</c:v>
                </c:pt>
                <c:pt idx="28">
                  <c:v>6.261442561997265</c:v>
                </c:pt>
                <c:pt idx="29">
                  <c:v>7.013200673924794</c:v>
                </c:pt>
                <c:pt idx="30">
                  <c:v>6.755688267163303</c:v>
                </c:pt>
                <c:pt idx="31">
                  <c:v>7.4862095707739975</c:v>
                </c:pt>
                <c:pt idx="32">
                  <c:v>6.2438978351660195</c:v>
                </c:pt>
                <c:pt idx="33">
                  <c:v>6.4853386994226465</c:v>
                </c:pt>
                <c:pt idx="34">
                  <c:v>10.862215599938706</c:v>
                </c:pt>
                <c:pt idx="35">
                  <c:v>6.903174270621173</c:v>
                </c:pt>
                <c:pt idx="36">
                  <c:v>6.88259238826288</c:v>
                </c:pt>
                <c:pt idx="37">
                  <c:v>9.829581978065939</c:v>
                </c:pt>
                <c:pt idx="38">
                  <c:v>8.024187258129242</c:v>
                </c:pt>
                <c:pt idx="39">
                  <c:v>7.4536180871682</c:v>
                </c:pt>
                <c:pt idx="40">
                  <c:v>6.26432088277331</c:v>
                </c:pt>
                <c:pt idx="41">
                  <c:v>7.061424675374408</c:v>
                </c:pt>
                <c:pt idx="42">
                  <c:v>6.995121903909211</c:v>
                </c:pt>
                <c:pt idx="43">
                  <c:v>6.0169153999411185</c:v>
                </c:pt>
                <c:pt idx="44">
                  <c:v>6.710464228948959</c:v>
                </c:pt>
                <c:pt idx="45">
                  <c:v>6.120271258447006</c:v>
                </c:pt>
                <c:pt idx="46">
                  <c:v>5.4016999961755365</c:v>
                </c:pt>
                <c:pt idx="47">
                  <c:v>9.861644746182941</c:v>
                </c:pt>
                <c:pt idx="48">
                  <c:v>7.651094577916282</c:v>
                </c:pt>
                <c:pt idx="49">
                  <c:v>6.964361210770756</c:v>
                </c:pt>
                <c:pt idx="50">
                  <c:v>6.602312934519443</c:v>
                </c:pt>
                <c:pt idx="51">
                  <c:v>7.32416791454366</c:v>
                </c:pt>
                <c:pt idx="52">
                  <c:v>6.399492866449432</c:v>
                </c:pt>
                <c:pt idx="53">
                  <c:v>7.286978637573098</c:v>
                </c:pt>
                <c:pt idx="54">
                  <c:v>7.043514190364182</c:v>
                </c:pt>
                <c:pt idx="55">
                  <c:v>6.644744549141737</c:v>
                </c:pt>
                <c:pt idx="56">
                  <c:v>6.667001889993398</c:v>
                </c:pt>
                <c:pt idx="57">
                  <c:v>6.476562250579406</c:v>
                </c:pt>
                <c:pt idx="58">
                  <c:v>7.048641463300794</c:v>
                </c:pt>
                <c:pt idx="59">
                  <c:v>6.642842361496447</c:v>
                </c:pt>
                <c:pt idx="60">
                  <c:v>6.652526705990308</c:v>
                </c:pt>
                <c:pt idx="61">
                  <c:v>6.121469723103718</c:v>
                </c:pt>
                <c:pt idx="62">
                  <c:v>6.675889351625949</c:v>
                </c:pt>
                <c:pt idx="63">
                  <c:v>6.585062830043692</c:v>
                </c:pt>
                <c:pt idx="64">
                  <c:v>7.4807688414112645</c:v>
                </c:pt>
                <c:pt idx="65">
                  <c:v>7.0410502625274205</c:v>
                </c:pt>
                <c:pt idx="66">
                  <c:v>7.033082148701409</c:v>
                </c:pt>
                <c:pt idx="67">
                  <c:v>6.723843292659278</c:v>
                </c:pt>
                <c:pt idx="68">
                  <c:v>7.23165142160437</c:v>
                </c:pt>
                <c:pt idx="69">
                  <c:v>6.614313267599962</c:v>
                </c:pt>
                <c:pt idx="70">
                  <c:v>7.5550748125270495</c:v>
                </c:pt>
                <c:pt idx="71">
                  <c:v>5.953530565249836</c:v>
                </c:pt>
                <c:pt idx="72">
                  <c:v>7.384790139940889</c:v>
                </c:pt>
                <c:pt idx="73">
                  <c:v>6.333933703012079</c:v>
                </c:pt>
                <c:pt idx="74">
                  <c:v>7.356565710339084</c:v>
                </c:pt>
                <c:pt idx="75">
                  <c:v>6.22603292091018</c:v>
                </c:pt>
                <c:pt idx="76">
                  <c:v>6.910443732337211</c:v>
                </c:pt>
                <c:pt idx="77">
                  <c:v>6.990101411628813</c:v>
                </c:pt>
                <c:pt idx="78">
                  <c:v>7.514661760043441</c:v>
                </c:pt>
                <c:pt idx="79">
                  <c:v>7.024735425920616</c:v>
                </c:pt>
                <c:pt idx="80">
                  <c:v>6.718100696106366</c:v>
                </c:pt>
                <c:pt idx="81">
                  <c:v>6.652715717931779</c:v>
                </c:pt>
                <c:pt idx="82">
                  <c:v>5.77760892342427</c:v>
                </c:pt>
                <c:pt idx="83">
                  <c:v>7.490536966584661</c:v>
                </c:pt>
                <c:pt idx="84">
                  <c:v>6.1029903653450885</c:v>
                </c:pt>
                <c:pt idx="85">
                  <c:v>7.4930401182270225</c:v>
                </c:pt>
                <c:pt idx="86">
                  <c:v>6.1441832093887445</c:v>
                </c:pt>
                <c:pt idx="87">
                  <c:v>7.069750923741632</c:v>
                </c:pt>
                <c:pt idx="88">
                  <c:v>6.459620714554608</c:v>
                </c:pt>
                <c:pt idx="89">
                  <c:v>7.2489696430952115</c:v>
                </c:pt>
                <c:pt idx="90">
                  <c:v>7.465569277429394</c:v>
                </c:pt>
                <c:pt idx="91">
                  <c:v>6.438909944976751</c:v>
                </c:pt>
                <c:pt idx="92">
                  <c:v>7.0077610729865025</c:v>
                </c:pt>
                <c:pt idx="93">
                  <c:v>7.34399256201442</c:v>
                </c:pt>
                <c:pt idx="94">
                  <c:v>6.537284290439538</c:v>
                </c:pt>
                <c:pt idx="95">
                  <c:v>6.375416287696136</c:v>
                </c:pt>
                <c:pt idx="96">
                  <c:v>5.905075932801687</c:v>
                </c:pt>
                <c:pt idx="97">
                  <c:v>6.771210073508497</c:v>
                </c:pt>
                <c:pt idx="98">
                  <c:v>5.9893250739184785</c:v>
                </c:pt>
                <c:pt idx="99">
                  <c:v>7.1700313770815765</c:v>
                </c:pt>
                <c:pt idx="100">
                  <c:v>7.296031405177462</c:v>
                </c:pt>
                <c:pt idx="101">
                  <c:v>7.159312668943876</c:v>
                </c:pt>
                <c:pt idx="102">
                  <c:v>7.019299519035775</c:v>
                </c:pt>
                <c:pt idx="103">
                  <c:v>6.6844280879415345</c:v>
                </c:pt>
                <c:pt idx="104">
                  <c:v>7.63552159174261</c:v>
                </c:pt>
                <c:pt idx="105">
                  <c:v>6.689892414387647</c:v>
                </c:pt>
                <c:pt idx="106">
                  <c:v>7.235026737021698</c:v>
                </c:pt>
                <c:pt idx="107">
                  <c:v>10.103745806415374</c:v>
                </c:pt>
                <c:pt idx="108">
                  <c:v>7.132530766465626</c:v>
                </c:pt>
                <c:pt idx="109">
                  <c:v>6.724013219647616</c:v>
                </c:pt>
                <c:pt idx="110">
                  <c:v>7.10135748162153</c:v>
                </c:pt>
                <c:pt idx="111">
                  <c:v>7.811568372375372</c:v>
                </c:pt>
                <c:pt idx="112">
                  <c:v>6.411407257058872</c:v>
                </c:pt>
                <c:pt idx="113">
                  <c:v>7.427675266107327</c:v>
                </c:pt>
                <c:pt idx="114">
                  <c:v>9.265305326092992</c:v>
                </c:pt>
                <c:pt idx="115">
                  <c:v>7.175633934517442</c:v>
                </c:pt>
                <c:pt idx="116">
                  <c:v>7.301010137092865</c:v>
                </c:pt>
                <c:pt idx="117">
                  <c:v>6.642373251127706</c:v>
                </c:pt>
                <c:pt idx="118">
                  <c:v>9.250871331889075</c:v>
                </c:pt>
                <c:pt idx="119">
                  <c:v>7.5258872329126705</c:v>
                </c:pt>
                <c:pt idx="120">
                  <c:v>7.9165569120527515</c:v>
                </c:pt>
                <c:pt idx="121">
                  <c:v>7.598989032597642</c:v>
                </c:pt>
                <c:pt idx="122">
                  <c:v>6.933378168947507</c:v>
                </c:pt>
                <c:pt idx="123">
                  <c:v>7.103794256950491</c:v>
                </c:pt>
                <c:pt idx="124">
                  <c:v>8.360138306564775</c:v>
                </c:pt>
                <c:pt idx="125">
                  <c:v>7.025182517635126</c:v>
                </c:pt>
                <c:pt idx="126">
                  <c:v>7.212735661540726</c:v>
                </c:pt>
                <c:pt idx="127">
                  <c:v>6.797287843014836</c:v>
                </c:pt>
                <c:pt idx="128">
                  <c:v>7.1385197252104</c:v>
                </c:pt>
                <c:pt idx="129">
                  <c:v>10.115240143360984</c:v>
                </c:pt>
                <c:pt idx="130">
                  <c:v>7.31457453742052</c:v>
                </c:pt>
                <c:pt idx="131">
                  <c:v>10.82018219789147</c:v>
                </c:pt>
                <c:pt idx="132">
                  <c:v>10.227148051422667</c:v>
                </c:pt>
                <c:pt idx="133">
                  <c:v>8.37931724056363</c:v>
                </c:pt>
                <c:pt idx="134">
                  <c:v>6.285338009703841</c:v>
                </c:pt>
                <c:pt idx="135">
                  <c:v>7.903047743299332</c:v>
                </c:pt>
                <c:pt idx="136">
                  <c:v>9.252364503703273</c:v>
                </c:pt>
                <c:pt idx="137">
                  <c:v>10.182620863238084</c:v>
                </c:pt>
                <c:pt idx="138">
                  <c:v>8.037614667973457</c:v>
                </c:pt>
                <c:pt idx="139">
                  <c:v>7.757617572676763</c:v>
                </c:pt>
                <c:pt idx="140">
                  <c:v>8.029989867648057</c:v>
                </c:pt>
                <c:pt idx="141">
                  <c:v>10.193797946613202</c:v>
                </c:pt>
                <c:pt idx="142">
                  <c:v>10.215677656153716</c:v>
                </c:pt>
                <c:pt idx="143">
                  <c:v>9.281492881957625</c:v>
                </c:pt>
                <c:pt idx="144">
                  <c:v>7.577974203375585</c:v>
                </c:pt>
                <c:pt idx="145">
                  <c:v>6.472090232055135</c:v>
                </c:pt>
                <c:pt idx="146">
                  <c:v>7.158677585377837</c:v>
                </c:pt>
                <c:pt idx="147">
                  <c:v>7.314366543544605</c:v>
                </c:pt>
                <c:pt idx="148">
                  <c:v>7.741085649816258</c:v>
                </c:pt>
                <c:pt idx="149">
                  <c:v>6.789052906228638</c:v>
                </c:pt>
                <c:pt idx="150">
                  <c:v>7.510942400677531</c:v>
                </c:pt>
                <c:pt idx="151">
                  <c:v>7.002154832992258</c:v>
                </c:pt>
                <c:pt idx="152">
                  <c:v>6.7988476518701555</c:v>
                </c:pt>
                <c:pt idx="153">
                  <c:v>6.156846249612022</c:v>
                </c:pt>
                <c:pt idx="154">
                  <c:v>7.419977829235496</c:v>
                </c:pt>
                <c:pt idx="155">
                  <c:v>7.552751882474445</c:v>
                </c:pt>
                <c:pt idx="156">
                  <c:v>6.709968960442849</c:v>
                </c:pt>
                <c:pt idx="157">
                  <c:v>6.602444855188272</c:v>
                </c:pt>
                <c:pt idx="158">
                  <c:v>7.4749816585009885</c:v>
                </c:pt>
                <c:pt idx="159">
                  <c:v>7.514847943571105</c:v>
                </c:pt>
                <c:pt idx="160">
                  <c:v>7.5544948841825645</c:v>
                </c:pt>
                <c:pt idx="161">
                  <c:v>7.611537415767117</c:v>
                </c:pt>
                <c:pt idx="162">
                  <c:v>7.503818405711009</c:v>
                </c:pt>
                <c:pt idx="163">
                  <c:v>6.5497935616821845</c:v>
                </c:pt>
                <c:pt idx="164">
                  <c:v>6.830437267410696</c:v>
                </c:pt>
                <c:pt idx="165">
                  <c:v>6.876152548643578</c:v>
                </c:pt>
                <c:pt idx="166">
                  <c:v>7.549741595042534</c:v>
                </c:pt>
                <c:pt idx="167">
                  <c:v>9.19645462792913</c:v>
                </c:pt>
                <c:pt idx="168">
                  <c:v>8.692306438853656</c:v>
                </c:pt>
                <c:pt idx="169">
                  <c:v>9.32926999000649</c:v>
                </c:pt>
                <c:pt idx="170">
                  <c:v>8.958464158872873</c:v>
                </c:pt>
                <c:pt idx="171">
                  <c:v>6.595843472767356</c:v>
                </c:pt>
                <c:pt idx="172">
                  <c:v>8.050456130633286</c:v>
                </c:pt>
                <c:pt idx="173">
                  <c:v>8.981232291866462</c:v>
                </c:pt>
                <c:pt idx="174">
                  <c:v>8.758035862755635</c:v>
                </c:pt>
                <c:pt idx="175">
                  <c:v>7.5651491631485595</c:v>
                </c:pt>
                <c:pt idx="176">
                  <c:v>7.873575543736442</c:v>
                </c:pt>
                <c:pt idx="177">
                  <c:v>8.255063383667004</c:v>
                </c:pt>
                <c:pt idx="178">
                  <c:v>8.96761841762575</c:v>
                </c:pt>
                <c:pt idx="179">
                  <c:v>10.416889629131</c:v>
                </c:pt>
                <c:pt idx="180">
                  <c:v>10.79077831973651</c:v>
                </c:pt>
                <c:pt idx="181">
                  <c:v>10.168267234300618</c:v>
                </c:pt>
                <c:pt idx="182">
                  <c:v>10.155979852458824</c:v>
                </c:pt>
                <c:pt idx="183">
                  <c:v>10.15772484028528</c:v>
                </c:pt>
                <c:pt idx="184">
                  <c:v>10.774993220189474</c:v>
                </c:pt>
                <c:pt idx="185">
                  <c:v>10.273186079536897</c:v>
                </c:pt>
                <c:pt idx="186">
                  <c:v>11.037103056066275</c:v>
                </c:pt>
                <c:pt idx="187">
                  <c:v>8.75491220608352</c:v>
                </c:pt>
                <c:pt idx="188">
                  <c:v>10.435832701493093</c:v>
                </c:pt>
                <c:pt idx="189">
                  <c:v>10.425998194740318</c:v>
                </c:pt>
                <c:pt idx="190">
                  <c:v>8.444556492423786</c:v>
                </c:pt>
                <c:pt idx="191">
                  <c:v>8.76242023293877</c:v>
                </c:pt>
                <c:pt idx="192">
                  <c:v>7.370771148095174</c:v>
                </c:pt>
                <c:pt idx="193">
                  <c:v>8.480454196327283</c:v>
                </c:pt>
                <c:pt idx="194">
                  <c:v>8.951085719801636</c:v>
                </c:pt>
                <c:pt idx="195">
                  <c:v>8.48174645385819</c:v>
                </c:pt>
                <c:pt idx="196">
                  <c:v>11.045570337055464</c:v>
                </c:pt>
                <c:pt idx="197">
                  <c:v>8.487946448041008</c:v>
                </c:pt>
                <c:pt idx="198">
                  <c:v>8.553645830889755</c:v>
                </c:pt>
                <c:pt idx="199">
                  <c:v>10.152926123762526</c:v>
                </c:pt>
                <c:pt idx="200">
                  <c:v>9.835878538384296</c:v>
                </c:pt>
                <c:pt idx="201">
                  <c:v>9.610559495090921</c:v>
                </c:pt>
                <c:pt idx="202">
                  <c:v>7.9039275938183815</c:v>
                </c:pt>
                <c:pt idx="203">
                  <c:v>9.321618549085255</c:v>
                </c:pt>
                <c:pt idx="204">
                  <c:v>8.63331222043396</c:v>
                </c:pt>
                <c:pt idx="205">
                  <c:v>8.997132457928231</c:v>
                </c:pt>
                <c:pt idx="206">
                  <c:v>7.816081500549316</c:v>
                </c:pt>
                <c:pt idx="207">
                  <c:v>8.764478104664903</c:v>
                </c:pt>
                <c:pt idx="208">
                  <c:v>9.63920983425968</c:v>
                </c:pt>
                <c:pt idx="209">
                  <c:v>9.607873048355467</c:v>
                </c:pt>
                <c:pt idx="210">
                  <c:v>10.419166770533328</c:v>
                </c:pt>
                <c:pt idx="211">
                  <c:v>10.301315111256473</c:v>
                </c:pt>
                <c:pt idx="212">
                  <c:v>8.954967779598801</c:v>
                </c:pt>
                <c:pt idx="213">
                  <c:v>8.557480969098053</c:v>
                </c:pt>
                <c:pt idx="214">
                  <c:v>9.005793604836024</c:v>
                </c:pt>
                <c:pt idx="215">
                  <c:v>10.777122209681243</c:v>
                </c:pt>
                <c:pt idx="216">
                  <c:v>8.22080264307299</c:v>
                </c:pt>
                <c:pt idx="217">
                  <c:v>8.95432933907046</c:v>
                </c:pt>
                <c:pt idx="218">
                  <c:v>9.32121584166835</c:v>
                </c:pt>
                <c:pt idx="219">
                  <c:v>8.327006855460567</c:v>
                </c:pt>
                <c:pt idx="220">
                  <c:v>7.881152990735028</c:v>
                </c:pt>
                <c:pt idx="221">
                  <c:v>7.955610079703408</c:v>
                </c:pt>
                <c:pt idx="222">
                  <c:v>8.790990998984825</c:v>
                </c:pt>
                <c:pt idx="223">
                  <c:v>7.36091816535299</c:v>
                </c:pt>
                <c:pt idx="224">
                  <c:v>7.675075136095683</c:v>
                </c:pt>
                <c:pt idx="225">
                  <c:v>10.762219283238853</c:v>
                </c:pt>
                <c:pt idx="226">
                  <c:v>10.267385977203821</c:v>
                </c:pt>
                <c:pt idx="227">
                  <c:v>9.629659391410398</c:v>
                </c:pt>
                <c:pt idx="228">
                  <c:v>7.548490613424714</c:v>
                </c:pt>
                <c:pt idx="229">
                  <c:v>9.61223238055067</c:v>
                </c:pt>
                <c:pt idx="230">
                  <c:v>8.837149548914981</c:v>
                </c:pt>
                <c:pt idx="231">
                  <c:v>7.8005354878024615</c:v>
                </c:pt>
                <c:pt idx="232">
                  <c:v>10.415523344289602</c:v>
                </c:pt>
                <c:pt idx="233">
                  <c:v>9.909984944888805</c:v>
                </c:pt>
                <c:pt idx="234">
                  <c:v>8.980844424744092</c:v>
                </c:pt>
                <c:pt idx="235">
                  <c:v>8.981620158988834</c:v>
                </c:pt>
                <c:pt idx="236">
                  <c:v>9.20158086016914</c:v>
                </c:pt>
                <c:pt idx="237">
                  <c:v>9.798850610105767</c:v>
                </c:pt>
                <c:pt idx="238">
                  <c:v>8.564042917485704</c:v>
                </c:pt>
                <c:pt idx="239">
                  <c:v>7.143762642154713</c:v>
                </c:pt>
                <c:pt idx="240">
                  <c:v>9.472650764367799</c:v>
                </c:pt>
                <c:pt idx="241">
                  <c:v>8.789772407588893</c:v>
                </c:pt>
                <c:pt idx="242">
                  <c:v>7.643824166514184</c:v>
                </c:pt>
                <c:pt idx="243">
                  <c:v>6.60968938353562</c:v>
                </c:pt>
                <c:pt idx="244">
                  <c:v>7.447177509264831</c:v>
                </c:pt>
                <c:pt idx="245">
                  <c:v>6.671384968960702</c:v>
                </c:pt>
                <c:pt idx="246">
                  <c:v>6.547606080889784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Sheet1!$B$250</c:f>
              <c:strCache>
                <c:ptCount val="1"/>
                <c:pt idx="0">
                  <c:v>Ajuste perfeito</c:v>
                </c:pt>
              </c:strCache>
            </c:strRef>
          </c:tx>
          <c:spPr>
            <a:ln w="15875" cap="rnd">
              <a:solidFill>
                <a:srgbClr val="BB1F2C"/>
              </a:solidFill>
              <a:prstDash val="dash"/>
            </a:ln>
          </c:spPr>
          <c:marker>
            <c:symbol val="none"/>
          </c:marker>
          <c:xVal>
            <c:numRef>
              <c:f>Sheet1!$A$251:$A$252</c:f>
              <c:numCache>
                <c:formatCode>General</c:formatCode>
                <c:ptCount val="2"/>
                <c:pt idx="0">
                  <c:v>2.0</c:v>
                </c:pt>
                <c:pt idx="1">
                  <c:v>20.0</c:v>
                </c:pt>
              </c:numCache>
            </c:numRef>
          </c:xVal>
          <c:yVal>
            <c:numRef>
              <c:f>Sheet1!$B$251:$B$252</c:f>
              <c:numCache>
                <c:formatCode>General</c:formatCode>
                <c:ptCount val="2"/>
                <c:pt idx="0">
                  <c:v>2.0</c:v>
                </c:pt>
                <c:pt idx="1">
                  <c:v>20.0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.0"/>
          <c:min val="2.0"/>
        </c:scaling>
        <c:delete val="0"/>
        <c:axPos val="b"/>
        <c:majorGridlines>
          <c:spPr>
            <a:ln w="9525">
              <a:solidFill>
                <a:srgbClr val="E3E8EE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 w="9525">
            <a:solidFill>
              <a:srgbClr val="CBD4DE"/>
            </a:solidFill>
          </a:ln>
        </c:spPr>
        <c:crossAx val="-2129643912"/>
        <c:crosses val="min"/>
        <c:crossBetween val="midCat"/>
        <c:txPr>
          <a:bodyPr/>
          <a:lstStyle/>
          <a:p>
            <a:pPr>
              <a:defRPr sz="1200" b="0">
                <a:solidFill>
                  <a:srgbClr val="5B6775"/>
                </a:solidFill>
                <a:latin typeface="Calibri"/>
              </a:defRPr>
            </a:pPr>
            <a:endParaRPr lang="pt-BR"/>
          </a:p>
        </c:txPr>
        <c:majorUnit val="3.0"/>
      </c:valAx>
      <c:valAx>
        <c:axId val="-2129643912"/>
        <c:scaling>
          <c:orientation val="minMax"/>
          <c:max val="20.0"/>
          <c:min val="2.0"/>
        </c:scaling>
        <c:delete val="0"/>
        <c:axPos val="l"/>
        <c:majorGridlines>
          <c:spPr>
            <a:ln w="9525">
              <a:solidFill>
                <a:srgbClr val="E3E8EE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 w="9525">
            <a:solidFill>
              <a:srgbClr val="CBD4DE"/>
            </a:solidFill>
          </a:ln>
        </c:spPr>
        <c:crossAx val="-2128940872"/>
        <c:crosses val="min"/>
        <c:crossBetween val="midCat"/>
        <c:txPr>
          <a:bodyPr/>
          <a:lstStyle/>
          <a:p>
            <a:pPr>
              <a:defRPr sz="1200" b="0">
                <a:solidFill>
                  <a:srgbClr val="5B6775"/>
                </a:solidFill>
                <a:latin typeface="Calibri"/>
              </a:defRPr>
            </a:pPr>
            <a:endParaRPr lang="pt-BR"/>
          </a:p>
        </c:txPr>
        <c:majorUnit val="3.0"/>
      </c:valAx>
      <c:spPr>
        <a:noFill/>
        <a:ln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Y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3F7F7-9B64-4955-9C49-680C81B35A8E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Y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65AB5-4710-4FBA-9404-7BB1B2E6687A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754669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30 s.</a:t>
            </a:r>
          </a:p>
          <a:p/>
          <a:p>
            <a:r>
              <a:t>A questão que orienta o trabalho é aplicada: podemos estimar melhor a taxa de rentabilidade de um escritório combinando modelos que aprendem de maneiras diferentes? A exposição começa no problema da avaliação e termina no uso profissional da estimativa.</a:t>
            </a:r>
          </a:p>
          <a:p/>
          <a:p>
            <a:r>
              <a:t>Fonte: ARTIGO FINAL CAP RATE.docx, título e seções 1 e 8.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1 min.</a:t>
            </a:r>
          </a:p>
          <a:p/>
          <a:p>
            <a:r>
              <a:t>Manter a renda constante permite isolar o efeito da taxa. A 6%, a renda de 600 mil reais é capitalizada em dez milhões; a 10%, em seis milhões. São números didáticos, sem pretensão de reproduzir um fluxo de caixa completo. O artigo define conceitualmente o cap rate por ROL/valor, mas não detalha as deduções ou a operacionalização da renda. O cap rate usado na modelagem está em porcentagem ao ano; os erros serão apresentados em pontos percentuais.</a:t>
            </a:r>
          </a:p>
          <a:p/>
          <a:p>
            <a:r>
              <a:t>Fonte: ARTIGO FINAL CAP RATE.docx, seções 1 e 2.1; cálculo ilustrativo: 600.000/0,06; /0,08; /0,10.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50 s.</a:t>
            </a:r>
          </a:p>
          <a:p/>
          <a:p>
            <a:r>
              <a:t>O cap rate não é um detalhe de cálculo: é o parâmetro que organiza a leitura de rentabilidade do mercado imobiliário. Ele cumpre três papéis. Primeiro, é indicador de rentabilidade: expressa o retorno corrente do capital aplicado e coloca o imóvel na mesma régua de outros ativos e da taxa livre de risco. Segundo, é a taxa de capitalização da renda no método da renda, prevista na NBR 14653-2 — é ele que converte renda em valor, define a perpetuidade e permite criticar a taxa de desconto adotada em empreendimentos de base imobiliária. Terceiro, funciona como termômetro do mercado, porque sintetiza risco percebido, liquidez e ciclo de juros; o período estudado coincide com um repricing expressivo, com a Selic acima de treze por cento ao ano. Formalmente, a taxa exigida decompõe-se em k = r + w. A justificativa do artigo está no quadro de negociações recentes: mesmo entre edifícios de padrão A e A+, em regiões premium, os cap rates observados vão de 5,1% a 8,2%. Um parâmetro dessa sensibilidade, com essa dispersão, merece estimativa fundamentada — e não arbitramento por analogia.</a:t>
            </a:r>
          </a:p>
          <a:p/>
          <a:p>
            <a:r>
              <a:t>Fonte: ARTIGO FINAL CAP RATE.docx, seções 1 e 2.1 e Quadro 1.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45 s.</a:t>
            </a:r>
          </a:p>
          <a:p/>
          <a:p>
            <a:r>
              <a:t>Antes de entrar na pergunta do estudo, convém situar a ferramenta. A inteligência artificial e o aprendizado de máquina são hoje instrumentos legítimos de suporte à análise do mercado imobiliário e à avaliação de imóveis: colocam à disposição do avaliador um repertório de ciência de dados que a regressão linear isolada não oferece — tratamento de bases maiores, detecção de não linearidades e interações, validação fora da amostra e, sobretudo, medição explícita do erro. O que elas não fazem é substituir o analista. A definição do problema, a crítica da amostra, a escolha das variáveis e a conclusão sobre o valor continuam sendo atos do avaliador, que responde tecnicamente por eles. É o que se convencionou chamar de human on the loop: o profissional não apenas aceita o resultado da máquina, ele supervisiona o processo, audita as regras que o modelo produziu e mantém o poder de rejeitar a estimativa.</a:t>
            </a:r>
          </a:p>
          <a:p/>
          <a:p>
            <a:r>
              <a:t>Fonte: ARTIGO FINAL CAP RATE.docx, seções 1 e 8; lema do congresso.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45 s.</a:t>
            </a:r>
          </a:p>
          <a:p/>
          <a:p>
            <a:r>
              <a:t>Cada especialista recebe as mesmas informações. O que muda é a forma de aprender: a Ridge resume tendências médias, a árvore separa situações por regras e a rede neural pode captar relações mais flexíveis. O quarto elemento não é um quarto especialista: é um integrador que aprende, a partir das previsões feitas fora do treino, quanto peso dar a cada um. A combinação só é interessante se o resultado avaliado fora do treino justificar sua complexidade.</a:t>
            </a:r>
          </a:p>
          <a:p/>
          <a:p>
            <a:r>
              <a:t>Fonte: ARTIGO FINAL CAP RATE.docx, seções 1, 2.3 e 2.5.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55 s.</a:t>
            </a:r>
          </a:p>
          <a:p/>
          <a:p>
            <a:r>
              <a:t>Usamos 247 observações. A meta inicial de cerca de 500, citada no resumo submetido, não corresponde à base efetivamente estudada. Vale destacar como a base foi construída: a pesquisa foi conduzida por pessoas, imóvel a imóvel, sem raspagem automatizada de portais. Isso impõe um custo — a amostra é menor do que seria uma base raspada — e oferece uma contrapartida relevante: cada observação foi conferida na fonte, o que permite criticar valores, entender a tipologia e descartar registros inconsistentes. Em avaliação, conhecer a amostra costuma valer mais do que ampliá-la sem controle. O recorte temporal é bastante desigual: 166 observações estão em 2026.</a:t>
            </a:r>
          </a:p>
          <a:p/>
          <a:p>
            <a:r>
              <a:t>Fonte: ARTIGO FINAL CAP RATE.docx, seção 3.1.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55 s.</a:t>
            </a:r>
          </a:p>
          <a:p/>
          <a:p>
            <a:r>
              <a:t>A localização não foi reduzida a uma distância única. Os submercados foram delimitados por polígonos definidos pelo avaliador, e os imóveis foram associados espacialmente às regiões. O julgamento profissional aparece já na construção das variáveis. O gráfico mostra as coordenadas das 247 observações; há 182 pares distintos, com unidades sobrepostas. Coordenadas, índice fiscal e interações entre atributos físicos e região foram testados e pioraram o desempenho em todos os cenários.</a:t>
            </a:r>
          </a:p>
          <a:p/>
          <a:p>
            <a:r>
              <a:t>Fonte: ARTIGO FINAL CAP RATE.docx, Figura 4 e seções 3.1 e 4.2.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1 min.</a:t>
            </a:r>
          </a:p>
          <a:p/>
          <a:p>
            <a:r>
              <a:t>O Centro tem a maior média, 9,31% ao ano, seguido de Vila Olímpia, 8,87%. As médias não isolam o efeito da localização: as regiões também diferem em perfil físico e composição da amostra. Atenção às bases pequenas, especialmente Marginal Pinheiros, com quatro casos. Observe que o maior desvio-padrão não é o do Centro (3,01) e sim o de Vila Olímpia (3,37) — a região reúne fundos institucionais, que compram lajes maiores a yields comprimidos, e investidores pulverizados, que negociam conjuntos menores a taxas mais altas. O teste de diferença entre regiões é significativo: ANOVA F = 5,81 com eta quadrado de 0,198 e Kruskal-Wallis H = 51,51.</a:t>
            </a:r>
          </a:p>
          <a:p/>
          <a:p>
            <a:r>
              <a:t>Fonte: ARTIGO FINAL CAP RATE.docx, Tabela 3 e seção 6.1.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50 s.</a:t>
            </a:r>
          </a:p>
          <a:p/>
          <a:p>
            <a:r>
              <a:t>O padrão construtivo é medido pelo IUP/IBAPE-SP e o estado de conservação por fator associado a Ross-Heidecke. Região e ano entram como variáveis indicadoras. A padronização das variáveis contínuas foi feita dentro de cada conjunto de treino para evitar que a base de teste influenciasse essa etapa. A maior associação marginal é a do estado de conservação, dCor = 0,401, seguida do padrão construtivo, 0,375. São associações modestas: nenhuma variável isolada explica o cap rate, o que justifica a arquitetura de combinação. Observação para o Q&amp;A: o artigo fala em 17 variáveis explicativas, mas com a categoria de referência omitida a matriz de projeto tem 16 colunas — 3 contínuas, 10 indicadoras de região e 3 de ano —, como consta do pacote publicado no Kaggle.</a:t>
            </a:r>
          </a:p>
          <a:p/>
          <a:p>
            <a:r>
              <a:t>Fonte: ARTIGO FINAL CAP RATE.docx, Tabela 2 e seções 3.3 a 4.3.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1 min.</a:t>
            </a:r>
          </a:p>
          <a:p/>
          <a:p>
            <a:r>
              <a:t>As métricas respondem a perguntas distintas. RMSE e MAE estão na unidade da decisão, pontos percentuais de cap rate — a diferença aritmética entre duas taxas: de 6% para 8% ao ano vão dois pontos percentuais, e não dois por cento. RMSE dá mais peso aos grandes erros. R² é definido a partir do erro quadrático em relação à referência da média. A correlação de distâncias, dCor, mede dependência e pode captar relações não lineares; ela não mede calibração nem equivale a um R² alternativo.</a:t>
            </a:r>
          </a:p>
          <a:p/>
          <a:p>
            <a:r>
              <a:t>Fonte: ARTIGO FINAL CAP RATE.docx, seções 2.4 e 5.5.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1 min.</a:t>
            </a:r>
          </a:p>
          <a:p/>
          <a:p>
            <a:r>
              <a:t>Em cada rodada, o modelo treina em quatro partes e prevê a quinta. Ao final, cada observação possui uma previsão produzida fora de seu próprio treino. As 247 previsões são reunidas para calcular as métricas. Isso é uma avaliação por validação cruzada, não um teste externo independente. Adiante voltaremos a um limite relevante: diferentes unidades do mesmo edifício podem cair em treino e teste.</a:t>
            </a:r>
          </a:p>
          <a:p/>
          <a:p>
            <a:r>
              <a:t>Fonte: ARTIGO FINAL CAP RATE.docx, seção 5.5.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55 s.</a:t>
            </a:r>
          </a:p>
          <a:p/>
          <a:p>
            <a:r>
              <a:t>Ridge é a referência linear regularizada. A árvore é rasa e impõe pelo menos dez observações por folha para conter partições muito específicas. A MLP usa duas camadas ocultas, com 64 e 32 neurônios, e parada antecipada. Essas escolhas tentam controlar o sobreajuste; não o eliminam. Box-Cox, log da área e representações locacionais adicionais foram testados e não melhoraram a especificação utilizada.</a:t>
            </a:r>
          </a:p>
          <a:p/>
          <a:p>
            <a:r>
              <a:t>Fonte: ARTIGO FINAL CAP RATE.docx, seções 5.2 a 5.4.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1 min.</a:t>
            </a:r>
          </a:p>
          <a:p/>
          <a:p>
            <a:r>
              <a:t>Stacking é um segundo modelo que recebe previsões, em vez dos atributos originais. O artigo informa que essas previsões são obtidas fora do treino. Os coeficientes do integrador mostram participação muito pequena da Ridge como modelo de base e maior contribuição de árvore e MLP. Esses números são coeficientes de uma regressão, com intercepto, e não uma divisão percentual. A Ridge ainda tem valor para a interpretação econômica. Para o Q&amp;A: o arquivo público de previsões traz também uma versão com avaliação aninhada da combinação, cujo RMSE é 2,4457 — pior que o da árvore isolada; vale conhecer esse número antes de ser perguntado.</a:t>
            </a:r>
          </a:p>
          <a:p/>
          <a:p>
            <a:r>
              <a:t>Fonte: ARTIGO FINAL CAP RATE.docx, seções 2.5, 5.1 e 7.1.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1 min.</a:t>
            </a:r>
          </a:p>
          <a:p/>
          <a:p>
            <a:r>
              <a:t>A combinação apresenta o menor RMSE, 2,3933 pontos percentuais. A comparação relevante é com o melhor especialista isolado, a árvore: a redução é de 0,0308 ponto percentual, ou 1,27% em termos relativos. A escala do gráfico começa em zero para que esse ganho não pareça maior do que é. O artigo não apresenta teste de significância dessa diferença; tratamos o resultado como ganho observado no protocolo utilizado.</a:t>
            </a:r>
          </a:p>
          <a:p/>
          <a:p>
            <a:r>
              <a:t>Fonte: ARTIGO FINAL CAP RATE.docx, Tabela 4.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50 s.</a:t>
            </a:r>
          </a:p>
          <a:p/>
          <a:p>
            <a:r>
              <a:t>A linha da combinação é a melhor nas quatro métricas reportadas. Isso não significa que cada componente não linear vence o linear. Nesta tabela, a MLP isolada tem o maior RMSE e o menor R². Um modelo individualmente inferior ainda pode contribuir para uma combinação, mas a magnitude e a estabilidade desse benefício precisam de validação.</a:t>
            </a:r>
          </a:p>
          <a:p/>
          <a:p>
            <a:r>
              <a:t>Fonte: ARTIGO FINAL CAP RATE.docx, Tabela 4.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55 s.</a:t>
            </a:r>
          </a:p>
          <a:p/>
          <a:p>
            <a:r>
              <a:t>A árvore ajuda a transformar a previsão em uma regra que o avaliador pode examinar. O primeiro corte é o padrão construtivo, com limiar 4,03. Entre os imóveis de menor padrão, a área separa conjuntos muito pequenos, cuja folha tem estimativa elevada, 11,48% ao ano. Na outra parte da árvore, a região Vila Olímpia ganha relevância. São regras do modelo ajustado, não leis universais de precificação nem efeitos causais isolados.</a:t>
            </a:r>
          </a:p>
          <a:p/>
          <a:p>
            <a:r>
              <a:t>Fonte: ARTIGO FINAL CAP RATE.docx, seção 5.3.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55 s.</a:t>
            </a:r>
          </a:p>
          <a:p/>
          <a:p>
            <a:r>
              <a:t>A lógica da permutação é retirar a informação de uma variável embaralhando seus valores. Se o erro aumenta, aquela informação era importante para o modelo. Os valores resumem a média das importâncias dos três especialistas: Vila Olímpia, padrão construtivo, área e conservação. Dependências entre variáveis podem afetar a leitura; importância preditiva não estabelece causalidade.</a:t>
            </a:r>
          </a:p>
          <a:p/>
          <a:p>
            <a:r>
              <a:t>Fonte: ARTIGO FINAL CAP RATE.docx, seção 6.3.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1 min.</a:t>
            </a:r>
          </a:p>
          <a:p/>
          <a:p>
            <a:r>
              <a:t>O resultado positivo da combinação precisa ser lido ao lado de sua limitação: o poder explicativo é baixo, e cerca de três quartos da variação permanecem fora do alcance do modelo. Parte da explicação está na própria distribuição da variável: os cap rates se concentram numa faixa estreita, com 64% da amostra entre 5% e 9% ao ano e amplitude interquartil de apenas 3,1 pontos percentuais. Quando sobra pouca variação sistemática a explicar, a correlação entre previsto e observado fica naturalmente baixa, mesmo com um modelo bem especificado. O gráfico mostra isso: as previsões se distribuem entre 5,4 e 11,0 pontos percentuais, enquanto as observações vão de 3,1 a 18,4. A dCor de 0,5214 está na mesma escala da correlação e praticamente coincide com o |r| de 0,51 — a relação previsto-observado é essencialmente linear.</a:t>
            </a:r>
          </a:p>
          <a:p/>
          <a:p>
            <a:r>
              <a:t>Fonte: ARTIGO FINAL CAP RATE.docx, Tabela 4 e seção 7.2; previsões publicadas no Kaggle.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1 min.</a:t>
            </a:r>
          </a:p>
          <a:p/>
          <a:p>
            <a:r>
              <a:t>O artigo reconhece um ponto importante: 40 prédios concentram 103 unidades e a correlação intraclasse por endereço é aproximadamente 0,41. Uma divisão aleatória pode distribuir unidades do mesmo prédio entre treino e teste, tornando a avaliação otimista para edifícios novos. A validação por grupos é recomendada, mas seus resultados não foram reportados no estudo.</a:t>
            </a:r>
          </a:p>
          <a:p/>
          <a:p>
            <a:r>
              <a:t>Fonte: ARTIGO FINAL CAP RATE.docx, seção 7.3.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55 s.</a:t>
            </a:r>
          </a:p>
          <a:p/>
          <a:p>
            <a:r>
              <a:t>Dois imóveis fisicamente parecidos podem carregar riscos contratuais diferentes. A base tem atributos físicos, regionais e temporais, mas não observa adequadamente o contrato, a vacância efetiva e a qualidade do locatário. A própria amostra dá a medida do problema: entre unidades de um mesmo endereço a dispersão chega a 10,6 pontos percentuais. Esses fatores são explicações plausíveis para parte do erro, sem que o estudo tenha quantificado separadamente a contribuição de cada um.</a:t>
            </a:r>
          </a:p>
          <a:p/>
          <a:p>
            <a:r>
              <a:t>Fonte: ARTIGO FINAL CAP RATE.docx, seções 2.1, 7.2 e 7.3.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1 min.</a:t>
            </a:r>
          </a:p>
          <a:p/>
          <a:p>
            <a:r>
              <a:t>Neste exemplo inteiramente didático, uma previsão de 7% e uma observação de 12% geram divergência de cinco pontos percentuais. O artigo sugere olhar com atenção diferenças da ordem de duas vezes o RMSE. Isso é uma regra de triagem exploratória: não fornece cobertura de 95%, não prova anomalia e não autoriza ajustar automaticamente a taxa. O passo seguinte é investigar as informações do caso e a própria qualidade do dado.</a:t>
            </a:r>
          </a:p>
          <a:p/>
          <a:p>
            <a:r>
              <a:t>Fonte: ARTIGO FINAL CAP RATE.docx, seções 7.2 e 8.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55 s.</a:t>
            </a:r>
          </a:p>
          <a:p/>
          <a:p>
            <a:r>
              <a:t>Retomar a pergunta inicial: combinar ajudou no protocolo estudado, com ganho pequeno. O mérito prático não está em prometer uma taxa exata para qualquer imóvel, mas em reunir uma estimativa comparável, componentes que podem ser examinados e um diagnóstico das lacunas de informação. Vale registrar que esta é, ao que se pôde apurar, a primeira aplicação no Brasil de aprendizado de máquina à estimativa de cap rates de imóveis comerciais. O caminho seguinte é ampliar dados contratuais, equilibrar regiões e validar por edifício e em dados externos.</a:t>
            </a:r>
          </a:p>
          <a:p/>
          <a:p>
            <a:r>
              <a:t>Fonte: ARTIGO FINAL CAP RATE.docx, Tabela 4 e seções 7 e 8.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55 s.</a:t>
            </a:r>
          </a:p>
          <a:p/>
          <a:p>
            <a:r>
              <a:t>Vale ser explícito sobre o papel da inteligência artificial neste trabalho, como exige o regulamento do concurso. Modelos como os aqui empregados exigem implementação em código. A IA generativa tornou viável escrever e depurar esse código sem ser programador, o que amplia de forma concreta o acesso do avaliador a técnicas sofisticadas de ciência de dados. Ela apoiou também a pesquisa bibliográfica, a produção dos gráficos e a revisão do texto. O que não delegamos: a concepção do estudo e as hipóteses, a coleta e a crítica dos dados, a escolha das variáveis e da especificação, e a interpretação dos resultados. Esse é o sentido prático do human in the loop — o humano decide em cada etapa; distingue-se do human on the loop, mencionado no início, em que o humano supervisiona e intervém quando necessário.</a:t>
            </a:r>
          </a:p>
          <a:p/>
          <a:p>
            <a:r>
              <a:t>Fonte: ARTIGO FINAL CAP RATE.docx, Nota Metodológica sobre o Uso de Inteligência Artificial.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40 s.</a:t>
            </a:r>
          </a:p>
          <a:p/>
          <a:p>
            <a:r>
              <a:t>Encerrar retomando o lema do congresso: inteligência artificial e julgamento profissional. Registrar que a base de dados, os scripts de reprodução e o artigo estão publicados no Kaggle: qualquer pessoa pode baixar as 247 observações, rodar o script e reproduzir a tabela de desempenho. É, até onde se sabe, a primeira base pública brasileira de cap rates de escritórios corporativos com atributos de imóvel e georreferenciamento abertos. Convidar o público a discutir quais informações contratuais são viáveis de obter e que validação seria necessária antes de usar a estimativa em um caso concreto.</a:t>
            </a:r>
          </a:p>
          <a:p/>
          <a:p>
            <a:r>
              <a:t>Fonte: ARTIGO FINAL CAP RATE.docx, seção 8; pacote de replicação no Kaggle.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apoio com a distribuição completa por região. As observações não estão equilibradas entre submercados. Médias, medianas e desvios descrevem a amostra e não isolam efeitos de localização.</a:t>
            </a:r>
          </a:p>
          <a:p/>
          <a:p>
            <a:r>
              <a:t>Fonte: ARTIGO FINAL CAP RATE.docx, Tabela 3.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Referências completas do artigo constam da seção Referências do texto final. Demais fontes específicas estão indicadas nas notas de cada slide.</a:t>
            </a:r>
          </a:p>
          <a:p/>
          <a:p>
            <a:r>
              <a:t>Fonte: ARTIGO FINAL CAP RATE.docx, Referências. Autores: Agnaldo Calvi Benvenho e Osório Accioly Gatto.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B52BA-20C0-0792-B774-2C6C17EB6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EA008F-02BA-FF69-C977-64657DC62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B7ABA6-B278-CA20-4C74-08C3E455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588CC4-8EE1-FFC4-C77F-6803D1687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AC640B-DDA6-D3C5-6A10-4D7D0C65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69264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4B4FB6-9E8E-8847-238D-58190D3D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B64400-E214-6010-E229-9FA710140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59A392-AA9A-DA3F-2B5C-6D6AE8D776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1B1AC4-4B6C-4EFB-E440-DDB0058A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3E0BAC-6309-4461-886F-A79C8EBD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94111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41CEF-7670-B5FD-1CED-BE0E93F5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D38E1E-A01A-AD88-8EA3-81AF4F40E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B62A61-D76F-3061-0021-92CBE0EC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868AB8-AEDB-63C0-A1DC-FA33735B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9B3CD6-D03C-252F-644E-070E88EB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27697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2D390-1066-29AC-A879-AB744997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6707A3-9F8A-83CD-C967-7B931736E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4FC989-05A5-7A2A-F618-D632B3AE0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9B2F98-AD7E-ED0F-9B4A-F18D4259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5318AF-AA0A-0CA3-F350-8C471E2C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B09371-3A78-06E1-2194-E3DC7481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522897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8B6DA-DB21-FC20-4701-48EB1B7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320949-433C-53A8-3545-28B83F007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E7A878-009C-FA5D-F446-039D843C9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A842EF-DDCD-CAC2-44B1-801BE068D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7ABE43-9A90-8AF6-7EF3-3B0D1E67B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7EB23C-FFD2-A85E-5979-4CACF840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94FCB1-4C10-E9AC-CFA2-F2444C00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D9FD8B-D709-ADC9-186B-C0F11752C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931288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5EF3B-086A-AB0D-31EF-364B02D23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B4B5B2C-45E2-8697-1DB2-5876B3EC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1F99CD-AC14-7509-91EA-382694D7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A45EB46-0533-2F56-7444-F6B2F9EC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54622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FABBB0C-30DE-2162-7235-F7B3FAB3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EDD290-FEE2-D47D-536E-3592F96D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C2F8AE-7098-D93B-0FCC-917BB954D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0328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ECBDE-8F4D-3109-AD55-1CC8A937F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F839DE-2F05-FEAA-3D0E-54335A2B7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411DDD-DB54-8FDD-BE02-E9DA5B5C7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111AEF-0460-4473-3B43-51F8FBAE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37AF16-0841-B96D-E3E9-7499FF4F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7F5574-21B8-3DD8-784A-41BB9AA6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65690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1ECA3-4ACA-A280-12BF-ED95C89DE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20A52C-5292-8033-A4D6-B051B8B5D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FD1301-9E84-F36F-B4C9-524FA134D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AF5302-9D0D-E02A-2BF9-330A6B9A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E4E1CF-3965-6B8B-8D5F-59897D583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09E21A-DA90-0979-DB1E-64FDB1784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57489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9A0BE-DD97-85E5-4BCD-7450E162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413345-CA80-1089-71DF-7A844ACB5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3096E0-8D53-7B6D-F3CE-7AB523A5AE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6F4BA-2F90-77A3-CFEB-1F425191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90668-4A1C-E4F7-45EE-E7979EE90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63327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8DFA1E-740E-EB7F-DF7A-881ABEDBA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19122E-E33E-1A13-FA5C-8FA945586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49BB43-22AD-9C9A-696D-2D8051D2DC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D614D0-63D8-C7A1-16A2-EB621AFC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1EAC91-7624-F86A-0C7C-B2725883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4176613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UNAM&#10;&#10;El contenido generado por IA puede ser incorrecto.">
            <a:extLst>
              <a:ext uri="{FF2B5EF4-FFF2-40B4-BE49-F238E27FC236}">
                <a16:creationId xmlns:a16="http://schemas.microsoft.com/office/drawing/2014/main" id="{C9DC5F60-EE2A-FD01-4045-2E19500E935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39"/>
            <a:ext cx="12192000" cy="681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2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datasets/agnaldocalvibenvenho/cap-rate-combinao-de-especialistas" TargetMode="Externa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AM&#10;&#10;El contenido generado por IA puede ser incorrecto.">
            <a:extLst>
              <a:ext uri="{FF2B5EF4-FFF2-40B4-BE49-F238E27FC236}">
                <a16:creationId xmlns:a16="http://schemas.microsoft.com/office/drawing/2014/main" id="{91AD36E6-A791-3769-975E-B3DA8ADD30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38"/>
            <a:ext cx="12192000" cy="6864138"/>
          </a:xfrm>
          <a:prstGeom prst="rect">
            <a:avLst/>
          </a:prstGeom>
        </p:spPr>
      </p:pic>
      <p:pic>
        <p:nvPicPr>
          <p:cNvPr id="5" name="Imagen 4" descr="ATASA&#10;&#10;El contenido generado por IA puede ser incorrecto.">
            <a:extLst>
              <a:ext uri="{FF2B5EF4-FFF2-40B4-BE49-F238E27FC236}">
                <a16:creationId xmlns:a16="http://schemas.microsoft.com/office/drawing/2014/main" id="{DCC4F862-0F02-44FE-AF6F-1A6E0B136F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862" y="487714"/>
            <a:ext cx="2035518" cy="682004"/>
          </a:xfrm>
          <a:prstGeom prst="rect">
            <a:avLst/>
          </a:prstGeom>
        </p:spPr>
      </p:pic>
      <p:pic>
        <p:nvPicPr>
          <p:cNvPr id="7" name="Imagen 6" descr="UPAV CONGRESO 2026.&#10;&#10;El contenido generado por IA puede ser incorrecto.">
            <a:extLst>
              <a:ext uri="{FF2B5EF4-FFF2-40B4-BE49-F238E27FC236}">
                <a16:creationId xmlns:a16="http://schemas.microsoft.com/office/drawing/2014/main" id="{655189A2-A086-3CD2-19D8-5278202987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494" y="207377"/>
            <a:ext cx="1129213" cy="1030407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53A8851-156B-27AF-A355-C0BC78B866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130" y="262293"/>
            <a:ext cx="1755648" cy="1030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pic>
        <p:nvPicPr>
          <p:cNvPr id="11" name="Imagen 10" descr="The image displays the logo of the Panama Association of Valuation, an organization focused on valuation and assessment.&#10;&#10;El contenido generado por IA puede ser incorrecto.">
            <a:extLst>
              <a:ext uri="{FF2B5EF4-FFF2-40B4-BE49-F238E27FC236}">
                <a16:creationId xmlns:a16="http://schemas.microsoft.com/office/drawing/2014/main" id="{746C27C6-C167-4C4A-C7E2-2590C4B461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0" y="268745"/>
            <a:ext cx="1119941" cy="1119941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03EC155E-06F7-AD62-779C-FCA8CDBD20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39317" y="5947088"/>
            <a:ext cx="5026130" cy="585938"/>
          </a:xfrm>
          <a:prstGeom prst="rect">
            <a:avLst/>
          </a:prstGeom>
          <a:solidFill>
            <a:srgbClr val="0B36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361B826-F1D7-ED09-DA95-4C59C5A9FE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40299" y="6055391"/>
            <a:ext cx="464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XL Congreso UPAV </a:t>
            </a:r>
            <a:r>
              <a:rPr lang="es-PY" b="1" dirty="0">
                <a:solidFill>
                  <a:schemeClr val="bg1"/>
                </a:solidFill>
              </a:rPr>
              <a:t>2026 - Madrid , España.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184C71D-1880-A922-EE6B-93C6DE07BA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3941" y="6539164"/>
            <a:ext cx="3708710" cy="318836"/>
          </a:xfrm>
          <a:prstGeom prst="rect">
            <a:avLst/>
          </a:prstGeom>
          <a:solidFill>
            <a:srgbClr val="E6BB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F9C68C9-2B45-5F00-1B92-32D9F3B8A8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494" y="6593625"/>
            <a:ext cx="35583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200" b="1" dirty="0">
                <a:solidFill>
                  <a:srgbClr val="0B3658"/>
                </a:solidFill>
              </a:rPr>
              <a:t>6, 7 y 8 de octubre 2026</a:t>
            </a:r>
          </a:p>
        </p:txBody>
      </p:sp>
      <p:sp>
        <p:nvSpPr>
          <p:cNvPr id="20" name="Evento"/>
          <p:cNvSpPr txBox="1"/>
          <p:nvPr/>
        </p:nvSpPr>
        <p:spPr>
          <a:xfrm>
            <a:off x="713232" y="1572768"/>
            <a:ext cx="107899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1" lang="pt-BR" spc="140">
                <a:solidFill>
                  <a:srgbClr val="BB1F2C"/>
                </a:solidFill>
                <a:latin typeface="Calibri"/>
              </a:rPr>
              <a:t>XL CONGRESSO PAN-AMERICANO DE AVALIAÇÃO   ·   CONCURSO DE PONENCIAS TÉCNICAS</a:t>
            </a:r>
          </a:p>
        </p:txBody>
      </p:sp>
      <p:sp>
        <p:nvSpPr>
          <p:cNvPr id="21" name="Título do trabalho"/>
          <p:cNvSpPr txBox="1"/>
          <p:nvPr/>
        </p:nvSpPr>
        <p:spPr>
          <a:xfrm>
            <a:off x="713232" y="1901952"/>
            <a:ext cx="10698480" cy="160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2900" b="1" lang="pt-BR">
                <a:solidFill>
                  <a:srgbClr val="0B3658"/>
                </a:solidFill>
                <a:latin typeface="Calibri"/>
              </a:rPr>
              <a:t>ANÁLISE DE TAXAS DE RENTABILIDADE NO MERCADO IMOBILIÁRIO</a:t>
            </a:r>
          </a:p>
          <a:p>
            <a:pPr algn="l">
              <a:lnSpc>
                <a:spcPct val="95000"/>
              </a:lnSpc>
              <a:buNone/>
            </a:pPr>
            <a:r>
              <a:rPr sz="2900" b="1" lang="pt-BR">
                <a:solidFill>
                  <a:srgbClr val="0B3658"/>
                </a:solidFill>
                <a:latin typeface="Calibri"/>
              </a:rPr>
              <a:t>EMPREGANDO APRENDIZAGEM DE MÁQUINA</a:t>
            </a:r>
          </a:p>
          <a:p>
            <a:pPr algn="l">
              <a:lnSpc>
                <a:spcPct val="95000"/>
              </a:lnSpc>
              <a:buNone/>
            </a:pPr>
            <a:r>
              <a:rPr sz="2900" b="1" lang="pt-BR">
                <a:solidFill>
                  <a:srgbClr val="0B3658"/>
                </a:solidFill>
                <a:latin typeface="Calibri"/>
              </a:rPr>
              <a:t>E COMBINAÇÃO DE ESPECIALISTAS</a:t>
            </a:r>
          </a:p>
        </p:txBody>
      </p:sp>
      <p:sp>
        <p:nvSpPr>
          <p:cNvPr id="22" name="Subtítulo"/>
          <p:cNvSpPr txBox="1"/>
          <p:nvPr/>
        </p:nvSpPr>
        <p:spPr>
          <a:xfrm>
            <a:off x="713232" y="3584448"/>
            <a:ext cx="694944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2500" b="1" lang="pt-BR">
                <a:solidFill>
                  <a:srgbClr val="BB1F2C"/>
                </a:solidFill>
                <a:latin typeface="Calibri"/>
              </a:rPr>
              <a:t>Três formas de aprender, uma estimativa auditável</a:t>
            </a:r>
          </a:p>
        </p:txBody>
      </p:sp>
      <p:sp>
        <p:nvSpPr>
          <p:cNvPr id="23" name="Autor"/>
          <p:cNvSpPr txBox="1"/>
          <p:nvPr/>
        </p:nvSpPr>
        <p:spPr>
          <a:xfrm>
            <a:off x="713232" y="4370832"/>
            <a:ext cx="69494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2100" b="1" lang="pt-BR">
                <a:solidFill>
                  <a:srgbClr val="0B3658"/>
                </a:solidFill>
                <a:latin typeface="Calibri"/>
              </a:rPr>
              <a:t>Agnaldo Calvi Benvenho   ·   Osório Accioly Gatto</a:t>
            </a:r>
          </a:p>
        </p:txBody>
      </p:sp>
      <p:sp>
        <p:nvSpPr>
          <p:cNvPr id="24" name="Filiação"/>
          <p:cNvSpPr txBox="1"/>
          <p:nvPr/>
        </p:nvSpPr>
        <p:spPr>
          <a:xfrm>
            <a:off x="713232" y="4736592"/>
            <a:ext cx="713232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450" b="0" lang="pt-BR">
                <a:solidFill>
                  <a:srgbClr val="5B6775"/>
                </a:solidFill>
                <a:latin typeface="Calibri"/>
              </a:rPr>
              <a:t>IBAPE — Instituto Brasileiro de Avaliações e Perícias de Engenharia   ·   Brasil</a:t>
            </a:r>
          </a:p>
        </p:txBody>
      </p:sp>
      <p:sp>
        <p:nvSpPr>
          <p:cNvPr id="25" name="Síntese"/>
          <p:cNvSpPr txBox="1"/>
          <p:nvPr/>
        </p:nvSpPr>
        <p:spPr>
          <a:xfrm>
            <a:off x="713232" y="5303520"/>
            <a:ext cx="6949440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500" b="1" lang="pt-BR">
                <a:solidFill>
                  <a:srgbClr val="0B3658"/>
                </a:solidFill>
                <a:latin typeface="Calibri"/>
              </a:rPr>
              <a:t>247 escritórios  ·  11 regiões de São Paulo  ·  3 especialistas + 1 integrador:</a:t>
            </a:r>
          </a:p>
          <a:p>
            <a:pPr algn="l">
              <a:lnSpc>
                <a:spcPct val="105000"/>
              </a:lnSpc>
              <a:buNone/>
            </a:pPr>
            <a:r>
              <a:rPr sz="1500" b="1" lang="pt-BR">
                <a:solidFill>
                  <a:srgbClr val="0B3658"/>
                </a:solidFill>
                <a:latin typeface="Calibri"/>
              </a:rPr>
              <a:t>combinar modelos melhora a estimativa do cap rate?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1950" y="3409950"/>
            <a:ext cx="3543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TRÊS ESPECIALISTAS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81950" y="3695700"/>
            <a:ext cx="1600200" cy="323850"/>
          </a:xfrm>
          <a:prstGeom prst="roundRect">
            <a:avLst>
              <a:gd name="adj" fmla="val 18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Ridge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81950" y="4114800"/>
            <a:ext cx="1600200" cy="323850"/>
          </a:xfrm>
          <a:prstGeom prst="roundRect">
            <a:avLst>
              <a:gd name="adj" fmla="val 18000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Árvore de regressão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1950" y="4533900"/>
            <a:ext cx="1600200" cy="323850"/>
          </a:xfrm>
          <a:prstGeom prst="roundRect">
            <a:avLst>
              <a:gd name="adj" fmla="val 18000"/>
            </a:avLst>
          </a:prstGeom>
          <a:solidFill>
            <a:srgbClr val="FBE3AE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Rede neural MLP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696450" y="4114800"/>
            <a:ext cx="266700" cy="190500"/>
          </a:xfrm>
          <a:prstGeom prst="rightArrow">
            <a:avLst/>
          </a:prstGeom>
          <a:solidFill>
            <a:srgbClr val="0B365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77450" y="3790950"/>
            <a:ext cx="1447800" cy="76200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combinação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7450" y="4629150"/>
            <a:ext cx="14478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775"/>
                </a:solidFill>
                <a:latin typeface="Calibri"/>
              </a:rPr>
              <a:t>integrador Ridge sobre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775"/>
                </a:solidFill>
                <a:latin typeface="Calibri"/>
              </a:rPr>
              <a:t>as previsões fora do treino</a:t>
            </a:r>
          </a:p>
        </p:txBody>
      </p:sp>
    </p:spTree>
    <p:extLst>
      <p:ext uri="{BB962C8B-B14F-4D97-AF65-F5344CB8AC3E}">
        <p14:creationId xmlns:p14="http://schemas.microsoft.com/office/powerpoint/2010/main" val="72813312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1 · O PROBLEMA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Por que estimar o cap rate?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600200"/>
            <a:ext cx="1106424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3658"/>
                </a:solidFill>
                <a:latin typeface="Calibri"/>
              </a:rPr>
              <a:t>Cap rate  =  renda operacional líquida anual  ÷  valor do imóvel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8" y="1962150"/>
            <a:ext cx="110642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775"/>
                </a:solidFill>
                <a:latin typeface="Calibri"/>
              </a:rPr>
              <a:t>Exemplo didático: a mesma renda líquida anual de R$ 600 mil, capitalizada a três taxas.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738" y="2362200"/>
            <a:ext cx="3535680" cy="23812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4388" y="2533650"/>
            <a:ext cx="30403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TAXA ADOTADA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4388" y="2743200"/>
            <a:ext cx="304038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3658"/>
                </a:solidFill>
                <a:latin typeface="Calibri"/>
              </a:rPr>
              <a:t>6% a.a.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4388" y="3333750"/>
            <a:ext cx="3040380" cy="0"/>
          </a:xfrm>
          <a:prstGeom prst="line">
            <a:avLst/>
          </a:prstGeom>
          <a:ln w="9525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4388" y="3486150"/>
            <a:ext cx="30403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VALOR CAPITALIZADO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388" y="3695700"/>
            <a:ext cx="304038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3658"/>
                </a:solidFill>
                <a:latin typeface="Calibri"/>
              </a:rPr>
              <a:t>R$ 10,0 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388" y="4248150"/>
            <a:ext cx="304038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6775"/>
                </a:solidFill>
                <a:latin typeface="Calibri"/>
              </a:rPr>
              <a:t>referência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1018" y="2362200"/>
            <a:ext cx="3535680" cy="238125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8668" y="2533650"/>
            <a:ext cx="30403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TAXA ADOTADA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8668" y="2743200"/>
            <a:ext cx="304038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3658"/>
                </a:solidFill>
                <a:latin typeface="Calibri"/>
              </a:rPr>
              <a:t>8% a.a.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8668" y="3333750"/>
            <a:ext cx="3040380" cy="0"/>
          </a:xfrm>
          <a:prstGeom prst="line">
            <a:avLst/>
          </a:prstGeom>
          <a:ln w="9525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8668" y="3486150"/>
            <a:ext cx="30403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VALOR CAPITALIZADO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8668" y="3695700"/>
            <a:ext cx="304038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3658"/>
                </a:solidFill>
                <a:latin typeface="Calibri"/>
              </a:rPr>
              <a:t>R$ 7,5 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668" y="4248150"/>
            <a:ext cx="304038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B1F2C"/>
                </a:solidFill>
                <a:latin typeface="Calibri"/>
              </a:rPr>
              <a:t>− 25% de valor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298" y="2362200"/>
            <a:ext cx="3535680" cy="238125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2948" y="2533650"/>
            <a:ext cx="30403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TAXA ADOTADA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2948" y="2743200"/>
            <a:ext cx="304038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3658"/>
                </a:solidFill>
                <a:latin typeface="Calibri"/>
              </a:rPr>
              <a:t>10% a.a.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42948" y="3333750"/>
            <a:ext cx="3040380" cy="0"/>
          </a:xfrm>
          <a:prstGeom prst="line">
            <a:avLst/>
          </a:prstGeom>
          <a:ln w="9525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42948" y="3486150"/>
            <a:ext cx="30403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VALOR CAPITALIZADO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2948" y="3695700"/>
            <a:ext cx="304038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B1F2C"/>
                </a:solidFill>
                <a:latin typeface="Calibri"/>
              </a:rPr>
              <a:t>R$ 6,0 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2948" y="4248150"/>
            <a:ext cx="304038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B1F2C"/>
                </a:solidFill>
                <a:latin typeface="Calibri"/>
              </a:rPr>
              <a:t>− 40% de valor</a:t>
            </a:r>
          </a:p>
        </p:txBody>
      </p:sp>
      <p:sp>
        <p:nvSpPr>
          <p:cNvPr id="29" name="Fonte"/>
          <p:cNvSpPr txBox="1"/>
          <p:nvPr/>
        </p:nvSpPr>
        <p:spPr>
          <a:xfrm>
            <a:off x="566738" y="49149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Exemplo ilustrativo de capitalização direta: V = ROL / cap rate. Não corresponde a um imóvel da amostra.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Quatro pontos percentuais de taxa separam </a:t>
            </a:r>
            <a:r>
              <a:rPr sz="1800" b="1">
                <a:solidFill>
                  <a:srgbClr val="FFFFFF"/>
                </a:solidFill>
                <a:latin typeface="Calibri"/>
              </a:rPr>
              <a:t>R$ 10,0 milhões de R$ 6,0 milhões</a:t>
            </a:r>
            <a:r>
              <a:rPr sz="1800" b="0">
                <a:solidFill>
                  <a:srgbClr val="FFFFFF"/>
                </a:solidFill>
                <a:latin typeface="Calibri"/>
              </a:rPr>
              <a:t> no mesmo fluxo de renda.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1 · O PROBLEMA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Importância do cap rate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738" y="1600200"/>
            <a:ext cx="3535680" cy="21717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338" y="1709738"/>
            <a:ext cx="30784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INVESTIMENTO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338" y="1909762"/>
            <a:ext cx="307848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658"/>
                </a:solidFill>
                <a:latin typeface="Calibri"/>
              </a:rPr>
              <a:t>Indicador de rentabilidade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338" y="2175510"/>
            <a:ext cx="3078480" cy="1482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A37"/>
                </a:solidFill>
                <a:latin typeface="Calibri"/>
              </a:rPr>
              <a:t>Mede o retorno corrente do capital aplicado no imóvel e coloca o ativo na mesma régua de outros investimentos e da taxa livre de risco.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1018" y="1600200"/>
            <a:ext cx="3535680" cy="21717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9618" y="1709738"/>
            <a:ext cx="30784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AVALIAÇÃO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618" y="1909762"/>
            <a:ext cx="307848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658"/>
                </a:solidFill>
                <a:latin typeface="Calibri"/>
              </a:rPr>
              <a:t>Taxa de capitalização da renda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618" y="2175510"/>
            <a:ext cx="3078480" cy="1482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A37"/>
                </a:solidFill>
                <a:latin typeface="Calibri"/>
              </a:rPr>
              <a:t>Converte renda em valor no método da renda (ABNT NBR 14653-2), define a perpetuidade e serve de crítica à taxa de desconto.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298" y="1600200"/>
            <a:ext cx="3535680" cy="21717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3898" y="1709738"/>
            <a:ext cx="30784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3898" y="1909762"/>
            <a:ext cx="307848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658"/>
                </a:solidFill>
                <a:latin typeface="Calibri"/>
              </a:rPr>
              <a:t>Termômetro do ciclo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3898" y="2175510"/>
            <a:ext cx="3078480" cy="1482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A37"/>
                </a:solidFill>
                <a:latin typeface="Calibri"/>
              </a:rPr>
              <a:t>Sintetiza risco percebido, liquidez e juros. Entre 2022 e 2026, o repricing dos escritórios paulistanos acompanhou a Selic acima de 13% a.a.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738" y="3981450"/>
            <a:ext cx="11064240" cy="106680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438" y="4210050"/>
            <a:ext cx="1714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3658"/>
                </a:solidFill>
                <a:latin typeface="Cambria"/>
              </a:rPr>
              <a:t>k = r + 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76538" y="4171950"/>
            <a:ext cx="0" cy="514350"/>
          </a:xfrm>
          <a:prstGeom prst="line">
            <a:avLst/>
          </a:prstGeom>
          <a:ln w="12700">
            <a:solidFill>
              <a:srgbClr val="E4C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24188" y="4191000"/>
            <a:ext cx="834009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A37"/>
                </a:solidFill>
                <a:latin typeface="Calibri"/>
              </a:rPr>
              <a:t>A taxa exigida decompõe-se em uma referência financeira (r) e no prêmio pelo risco do ativo e do contrato (w). Padrão construtivo e conservação captam parte de w; a qualidade do locatário e o contrato, não.</a:t>
            </a:r>
          </a:p>
        </p:txBody>
      </p:sp>
      <p:sp>
        <p:nvSpPr>
          <p:cNvPr id="22" name="Fonte"/>
          <p:cNvSpPr txBox="1"/>
          <p:nvPr/>
        </p:nvSpPr>
        <p:spPr>
          <a:xfrm>
            <a:off x="566738" y="520065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seções 1 e 2.1 e Quadro 1 (negociações de nov./2023 a mai./2024); ABNT NBR 14653-2.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Em 20 negociações de edifícios corporativos em São Paulo, o cap rate variou de </a:t>
            </a:r>
            <a:r>
              <a:rPr sz="1700" b="1">
                <a:solidFill>
                  <a:srgbClr val="FFFFFF"/>
                </a:solidFill>
                <a:latin typeface="Calibri"/>
              </a:rPr>
              <a:t>5,1% a 8,2%</a:t>
            </a:r>
            <a:r>
              <a:rPr sz="1700" b="0">
                <a:solidFill>
                  <a:srgbClr val="FFFFFF"/>
                </a:solidFill>
                <a:latin typeface="Calibri"/>
              </a:rPr>
              <a:t> — inclusive entre imóveis de padrão A e A+.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2 · A PROPOSTA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Inteligência artificial e aprendizado de máquina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738" y="1600200"/>
            <a:ext cx="5410200" cy="22479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338" y="171450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658"/>
                </a:solidFill>
                <a:latin typeface="Calibri"/>
              </a:rPr>
              <a:t>O que a ciência de dados agrega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388" y="2114550"/>
            <a:ext cx="19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8712" y="2095500"/>
            <a:ext cx="457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Trata bases maiores e mais variáveis ao mesmo tempo.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4388" y="2647950"/>
            <a:ext cx="19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8712" y="2628900"/>
            <a:ext cx="457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Detecta não linearidades e interações sem forma funcional imposta.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388" y="3181350"/>
            <a:ext cx="19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8712" y="3162300"/>
            <a:ext cx="457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Valida fora da amostra e mede o erro de forma explícita.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0778" y="1600200"/>
            <a:ext cx="5410200" cy="224790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9378" y="171450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658"/>
                </a:solidFill>
                <a:latin typeface="Calibri"/>
              </a:rPr>
              <a:t>O que ela não substitui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8428" y="2114550"/>
            <a:ext cx="19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B1F2C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2752" y="2095500"/>
            <a:ext cx="457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A definição do problema e a crítica da amostra.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8428" y="2647950"/>
            <a:ext cx="19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B1F2C"/>
                </a:solidFill>
                <a:latin typeface="Calibr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2752" y="2628900"/>
            <a:ext cx="457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A escolha das variáveis e da especificação do modelo.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8428" y="3181350"/>
            <a:ext cx="19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B1F2C"/>
                </a:solidFill>
                <a:latin typeface="Calibri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2752" y="3162300"/>
            <a:ext cx="457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A conclusão sobre o valor — ato privativo do avaliador.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738" y="4038600"/>
            <a:ext cx="11064240" cy="914400"/>
          </a:xfrm>
          <a:prstGeom prst="roundRect">
            <a:avLst>
              <a:gd name="adj" fmla="val 4455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438" y="421005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spc="140">
                <a:solidFill>
                  <a:srgbClr val="BB1F2C"/>
                </a:solidFill>
                <a:latin typeface="Calibri"/>
              </a:rPr>
              <a:t>HUMAN ON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438" y="4419600"/>
            <a:ext cx="1053084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A37"/>
                </a:solidFill>
                <a:latin typeface="Calibri"/>
              </a:rPr>
              <a:t>O avaliador supervisiona o modelo: formula as hipóteses, audita as regras produzidas, aceita ou rejeita a estimativa e responde tecnicamente por ela.</a:t>
            </a:r>
          </a:p>
        </p:txBody>
      </p:sp>
      <p:sp>
        <p:nvSpPr>
          <p:cNvPr id="25" name="Fonte"/>
          <p:cNvSpPr txBox="1"/>
          <p:nvPr/>
        </p:nvSpPr>
        <p:spPr>
          <a:xfrm>
            <a:off x="566738" y="520065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Lema do XL Congresso UPAV 2026: "Valoración, inteligencia artificial y juicio profesional". Artigo final, seções 1 e 8.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Ferramentas que ampliam a análise. </a:t>
            </a:r>
            <a:r>
              <a:rPr sz="1800" b="1">
                <a:solidFill>
                  <a:srgbClr val="FFFFFF"/>
                </a:solidFill>
                <a:latin typeface="Calibri"/>
              </a:rPr>
              <a:t>Não que decidem por ela.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2 · A PROPOSTA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A pergunta do estudo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581150"/>
            <a:ext cx="85725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B3658"/>
                </a:solidFill>
                <a:latin typeface="Calibri"/>
              </a:rPr>
              <a:t>Combinar modelos melhora a estimativa do cap rate?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8" y="2495550"/>
            <a:ext cx="110642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Calibri"/>
              </a:rPr>
              <a:t>Os mesmos dados. Três formas de aprender. Um integrador que decide o peso de cada uma.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738" y="2857500"/>
            <a:ext cx="2438400" cy="20383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6288" y="300990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288" y="3238500"/>
            <a:ext cx="2019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0B3658"/>
                </a:solidFill>
                <a:latin typeface="Calibri"/>
              </a:rPr>
              <a:t>tendência média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288" y="3829050"/>
            <a:ext cx="20193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1F2A37"/>
                </a:solidFill>
                <a:latin typeface="Calibri"/>
              </a:rPr>
              <a:t>resume o efeito médio de cada atributo e ancora a leitura econômica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99752" y="3733800"/>
            <a:ext cx="247650" cy="171450"/>
          </a:xfrm>
          <a:prstGeom prst="rightArrow">
            <a:avLst/>
          </a:prstGeom>
          <a:solidFill>
            <a:srgbClr val="A9B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2017" y="2857500"/>
            <a:ext cx="2438400" cy="2038350"/>
          </a:xfrm>
          <a:prstGeom prst="roundRect">
            <a:avLst>
              <a:gd name="adj" fmla="val 4455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1567" y="300990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9FB6CC"/>
                </a:solidFill>
                <a:latin typeface="Calibri"/>
              </a:rPr>
              <a:t>ÁRVORE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1567" y="3238500"/>
            <a:ext cx="2019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regras condicionais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1567" y="3829050"/>
            <a:ext cx="20193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separa o mercado por cortes do tipo "se… então"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75032" y="3733800"/>
            <a:ext cx="247650" cy="171450"/>
          </a:xfrm>
          <a:prstGeom prst="rightArrow">
            <a:avLst/>
          </a:prstGeom>
          <a:solidFill>
            <a:srgbClr val="A9B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7297" y="2857500"/>
            <a:ext cx="2438400" cy="2038350"/>
          </a:xfrm>
          <a:prstGeom prst="roundRect">
            <a:avLst>
              <a:gd name="adj" fmla="val 4455"/>
            </a:avLst>
          </a:prstGeom>
          <a:solidFill>
            <a:srgbClr val="FBE3A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6847" y="300990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8A6B21"/>
                </a:solidFill>
                <a:latin typeface="Calibri"/>
              </a:rPr>
              <a:t>REDE NEURAL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6847" y="3238500"/>
            <a:ext cx="2019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0B3658"/>
                </a:solidFill>
                <a:latin typeface="Calibri"/>
              </a:rPr>
              <a:t>relações flexíveis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6847" y="3829050"/>
            <a:ext cx="20193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1F2A37"/>
                </a:solidFill>
                <a:latin typeface="Calibri"/>
              </a:rPr>
              <a:t>capta padrões não lineares moderados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50312" y="3733800"/>
            <a:ext cx="247650" cy="171450"/>
          </a:xfrm>
          <a:prstGeom prst="rightArrow">
            <a:avLst/>
          </a:prstGeom>
          <a:solidFill>
            <a:srgbClr val="0B365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92578" y="2857500"/>
            <a:ext cx="2438400" cy="2038350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5875">
            <a:solidFill>
              <a:srgbClr val="0B365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2128" y="300990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COMBINAÇÃO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2128" y="3238500"/>
            <a:ext cx="2019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0B3658"/>
                </a:solidFill>
                <a:latin typeface="Calibri"/>
              </a:rPr>
              <a:t>integrador Ridge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2128" y="3829050"/>
            <a:ext cx="20193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1F2A37"/>
                </a:solidFill>
                <a:latin typeface="Calibri"/>
              </a:rPr>
              <a:t>aprende quanto pesar cada especialista fora do treino</a:t>
            </a:r>
          </a:p>
        </p:txBody>
      </p:sp>
      <p:sp>
        <p:nvSpPr>
          <p:cNvPr id="27" name="Fonte"/>
          <p:cNvSpPr txBox="1"/>
          <p:nvPr/>
        </p:nvSpPr>
        <p:spPr>
          <a:xfrm>
            <a:off x="566738" y="520065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seções 1, 2.3 e 2.5. Aplicação: escritórios corporativos de São Paulo, 2022–2026.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A combinação só se justifica se o ganho, </a:t>
            </a:r>
            <a:r>
              <a:rPr sz="1800" b="1">
                <a:solidFill>
                  <a:srgbClr val="FFFFFF"/>
                </a:solidFill>
                <a:latin typeface="Calibri"/>
              </a:rPr>
              <a:t>medido fora do treino</a:t>
            </a:r>
            <a:r>
              <a:rPr sz="1800" b="0">
                <a:solidFill>
                  <a:srgbClr val="FFFFFF"/>
                </a:solidFill>
                <a:latin typeface="Calibri"/>
              </a:rPr>
              <a:t>, compensar a complexidade.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3 · OS DADOS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A amostra efetivamente utilizada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600200"/>
            <a:ext cx="285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0B3658"/>
                </a:solidFill>
                <a:latin typeface="Calibri"/>
              </a:rPr>
              <a:t>247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8" y="2400300"/>
            <a:ext cx="3619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A37"/>
                </a:solidFill>
                <a:latin typeface="Calibri"/>
              </a:rPr>
              <a:t>observações de escritórios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A37"/>
                </a:solidFill>
                <a:latin typeface="Calibri"/>
              </a:rPr>
              <a:t>corporativos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738" y="3009900"/>
            <a:ext cx="1028700" cy="304800"/>
          </a:xfrm>
          <a:prstGeom prst="roundRect">
            <a:avLst>
              <a:gd name="adj" fmla="val 20000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11 regiões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0688" y="3009900"/>
            <a:ext cx="990600" cy="304800"/>
          </a:xfrm>
          <a:prstGeom prst="roundRect">
            <a:avLst>
              <a:gd name="adj" fmla="val 20000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São Paulo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6538" y="3009900"/>
            <a:ext cx="1104900" cy="304800"/>
          </a:xfrm>
          <a:prstGeom prst="roundRect">
            <a:avLst>
              <a:gd name="adj" fmla="val 20000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2022–2026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738" y="3543300"/>
            <a:ext cx="4000500" cy="148590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338" y="3695700"/>
            <a:ext cx="3543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8A6B21"/>
                </a:solidFill>
                <a:latin typeface="Calibri"/>
              </a:rPr>
              <a:t>COLETA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338" y="3905250"/>
            <a:ext cx="3543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3658"/>
                </a:solidFill>
                <a:latin typeface="Calibri"/>
              </a:rPr>
              <a:t>Pesquisa humana, sem raspagem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338" y="4210050"/>
            <a:ext cx="35433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Calibri"/>
              </a:rPr>
              <a:t>Cada observação foi levantada, conferida e criticada uma a uma. A amostra é menor do que uma base raspada — e, por isso mesmo, conhecida.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1600200"/>
            <a:ext cx="6667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Calibri"/>
              </a:rPr>
              <a:t>Distribuição por ano da observação</a:t>
            </a:r>
          </a:p>
        </p:txBody>
      </p:sp>
      <p:graphicFrame>
        <p:nvGraphicFramePr>
          <p:cNvPr id="16" name="Observações por ano"/>
          <p:cNvGraphicFramePr>
            <a:graphicFrameLocks noGrp="1"/>
          </p:cNvGraphicFramePr>
          <p:nvPr/>
        </p:nvGraphicFramePr>
        <p:xfrm>
          <a:off x="4953000" y="1866900"/>
          <a:ext cx="66675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953000" y="4819650"/>
            <a:ext cx="6667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B6775"/>
                </a:solidFill>
                <a:latin typeface="Calibri"/>
              </a:rPr>
              <a:t>166 das 247 observações estão em 2026 e não há registros de 2023: as indicadoras de ano descrevem células muito desiguais.</a:t>
            </a:r>
          </a:p>
        </p:txBody>
      </p:sp>
      <p:sp>
        <p:nvSpPr>
          <p:cNvPr id="18" name="Fonte"/>
          <p:cNvSpPr txBox="1"/>
          <p:nvPr/>
        </p:nvSpPr>
        <p:spPr>
          <a:xfrm>
            <a:off x="566738" y="52197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seção 3.1. Levantamento manual, sem web scraping.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A meta inicial de cerca de 500 observações não foi a amostra realizada: </a:t>
            </a:r>
            <a:r>
              <a:rPr sz="1700" b="1">
                <a:solidFill>
                  <a:srgbClr val="FFFFFF"/>
                </a:solidFill>
                <a:latin typeface="Calibri"/>
              </a:rPr>
              <a:t>247 casos conferidos um a 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3 · OS DADOS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A localização como variável de mercado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07</a:t>
            </a:r>
          </a:p>
        </p:txBody>
      </p:sp>
      <p:graphicFrame>
        <p:nvGraphicFramePr>
          <p:cNvPr id="6" name="Localização"/>
          <p:cNvGraphicFramePr>
            <a:graphicFrameLocks noGrp="1"/>
          </p:cNvGraphicFramePr>
          <p:nvPr/>
        </p:nvGraphicFramePr>
        <p:xfrm>
          <a:off x="566738" y="1676400"/>
          <a:ext cx="6572250" cy="33147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738" y="5067300"/>
            <a:ext cx="6572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775"/>
                </a:solidFill>
                <a:latin typeface="Calibri"/>
              </a:rPr>
              <a:t>Coordenadas das 247 observações · eixo horizontal: longitude; eixo vertical: latitude.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29500" y="1600200"/>
            <a:ext cx="4200525" cy="10287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9050" y="1733550"/>
            <a:ext cx="37814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B3658"/>
                </a:solidFill>
                <a:latin typeface="Calibri"/>
              </a:rPr>
              <a:t>11 regiões de mercado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9050" y="2000250"/>
            <a:ext cx="37814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Polígonos desenhados pelo avaliador e associação espacial por spatial join (GeoPandas).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9500" y="2743200"/>
            <a:ext cx="4200525" cy="10287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9050" y="2876550"/>
            <a:ext cx="37814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B3658"/>
                </a:solidFill>
                <a:latin typeface="Calibri"/>
              </a:rPr>
              <a:t>Submercados, não distâncias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9050" y="3143250"/>
            <a:ext cx="37814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A localização entra como variável indicadora de região — não como uma distância única a um polo de negócios.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9500" y="3886200"/>
            <a:ext cx="4200525" cy="10287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9050" y="4019550"/>
            <a:ext cx="37814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B3658"/>
                </a:solidFill>
                <a:latin typeface="Calibri"/>
              </a:rPr>
              <a:t>Delimitação auditável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9050" y="4286250"/>
            <a:ext cx="37814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O julgamento profissional aparece já na construção da variável, de forma reproduzível.</a:t>
            </a:r>
          </a:p>
        </p:txBody>
      </p:sp>
      <p:sp>
        <p:nvSpPr>
          <p:cNvPr id="17" name="Fonte"/>
          <p:cNvSpPr txBox="1"/>
          <p:nvPr/>
        </p:nvSpPr>
        <p:spPr>
          <a:xfrm>
            <a:off x="566738" y="52959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Base auxiliar base_reclassificada_final_n247.xlsx; artigo final, seções 3.1 e 4.2. Há pontos sobrepostos (182 pares distintos).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As indicadoras de região capturaram toda a informação locacional disponível: </a:t>
            </a:r>
            <a:r>
              <a:rPr sz="1700" b="1">
                <a:solidFill>
                  <a:srgbClr val="FFFFFF"/>
                </a:solidFill>
                <a:latin typeface="Calibri"/>
              </a:rPr>
              <a:t>coordenadas e interações pioraram o desempenho.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3 · OS DADOS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As taxas diferem entre regiões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600200"/>
            <a:ext cx="723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Calibri"/>
              </a:rPr>
              <a:t>Cap rate médio por região de mercado  —  % a.a.,  n após o nome</a:t>
            </a:r>
          </a:p>
        </p:txBody>
      </p:sp>
      <p:graphicFrame>
        <p:nvGraphicFramePr>
          <p:cNvPr id="7" name="Cap rate por região"/>
          <p:cNvGraphicFramePr>
            <a:graphicFrameLocks noGrp="1"/>
          </p:cNvGraphicFramePr>
          <p:nvPr/>
        </p:nvGraphicFramePr>
        <p:xfrm>
          <a:off x="566738" y="1847850"/>
          <a:ext cx="7239000" cy="3333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81950" y="1600200"/>
            <a:ext cx="3648075" cy="10477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1975" y="1664018"/>
            <a:ext cx="32480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B3658"/>
                </a:solidFill>
                <a:latin typeface="Calibri"/>
              </a:rPr>
              <a:t>9,31%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1975" y="2093404"/>
            <a:ext cx="32480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Centro: a maior média, com o maior número de observações (71) e perfis muito heterogêneos.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1950" y="2762250"/>
            <a:ext cx="3648075" cy="104775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1975" y="2826068"/>
            <a:ext cx="32480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B3658"/>
                </a:solidFill>
                <a:latin typeface="Calibri"/>
              </a:rPr>
              <a:t>3,37 p.p.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1975" y="3255454"/>
            <a:ext cx="32480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O desvio-padrão de Vila Olímpia é o maior da amostra — fundos institucionais e investidores pulverizados no mesmo submercado.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1950" y="3924300"/>
            <a:ext cx="3648075" cy="104775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1975" y="3988118"/>
            <a:ext cx="32480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BB1F2C"/>
                </a:solidFill>
                <a:latin typeface="Calibri"/>
              </a:rPr>
              <a:t>n =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1975" y="4417504"/>
            <a:ext cx="32480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Marginal Pinheiros. Bases pequenas pedem cautela: a média não isola o efeito da localização.</a:t>
            </a:r>
          </a:p>
        </p:txBody>
      </p:sp>
      <p:sp>
        <p:nvSpPr>
          <p:cNvPr id="17" name="Fonte"/>
          <p:cNvSpPr txBox="1"/>
          <p:nvPr/>
        </p:nvSpPr>
        <p:spPr>
          <a:xfrm>
            <a:off x="566738" y="52197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Tabela 3. Médias descritivas: as regiões também diferem em perfil físico e composição da amostra.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ANOVA F = 5,81 e Kruskal-Wallis H = 51,51 (p &lt; 0,001): </a:t>
            </a:r>
            <a:r>
              <a:rPr sz="1700" b="0">
                <a:solidFill>
                  <a:srgbClr val="FFFFFF"/>
                </a:solidFill>
                <a:latin typeface="Calibri"/>
              </a:rPr>
              <a:t>as diferenças entre submercados são estatisticamente significativas.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3 · OS DADOS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O que entra no modelo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619250"/>
            <a:ext cx="609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CARACTERÍSTICAS FÍSICAS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738" y="1828800"/>
            <a:ext cx="1666875" cy="323850"/>
          </a:xfrm>
          <a:prstGeom prst="roundRect">
            <a:avLst>
              <a:gd name="adj" fmla="val 20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300" b="0">
                <a:solidFill>
                  <a:srgbClr val="0B3658"/>
                </a:solidFill>
                <a:latin typeface="Calibri"/>
              </a:rPr>
              <a:t>área útil privativa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8862" y="1828800"/>
            <a:ext cx="2857500" cy="323850"/>
          </a:xfrm>
          <a:prstGeom prst="roundRect">
            <a:avLst>
              <a:gd name="adj" fmla="val 20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300" b="0">
                <a:solidFill>
                  <a:srgbClr val="0B3658"/>
                </a:solidFill>
                <a:latin typeface="Calibri"/>
              </a:rPr>
              <a:t>padrão construtivo (IUP/IBAPE-SP)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738" y="2152650"/>
            <a:ext cx="3810000" cy="323850"/>
          </a:xfrm>
          <a:prstGeom prst="roundRect">
            <a:avLst>
              <a:gd name="adj" fmla="val 20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300" b="0">
                <a:solidFill>
                  <a:srgbClr val="0B3658"/>
                </a:solidFill>
                <a:latin typeface="Calibri"/>
              </a:rPr>
              <a:t>estado de conservação (fator K de Ross-Heidecke)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738" y="2743200"/>
            <a:ext cx="609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LOCALIZAÇÃO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738" y="2952750"/>
            <a:ext cx="4095750" cy="323850"/>
          </a:xfrm>
          <a:prstGeom prst="roundRect">
            <a:avLst>
              <a:gd name="adj" fmla="val 20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300" b="0">
                <a:solidFill>
                  <a:srgbClr val="0B3658"/>
                </a:solidFill>
                <a:latin typeface="Calibri"/>
              </a:rPr>
              <a:t>11 regiões de mercado (reclassificação geoespacial)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738" y="3486150"/>
            <a:ext cx="609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TEMPO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738" y="3695700"/>
            <a:ext cx="2619375" cy="323850"/>
          </a:xfrm>
          <a:prstGeom prst="roundRect">
            <a:avLst>
              <a:gd name="adj" fmla="val 20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300" b="0">
                <a:solidFill>
                  <a:srgbClr val="0B3658"/>
                </a:solidFill>
                <a:latin typeface="Calibri"/>
              </a:rPr>
              <a:t>ano da observação · 2022 a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738" y="4229100"/>
            <a:ext cx="6096000" cy="819150"/>
          </a:xfrm>
          <a:prstGeom prst="roundRect">
            <a:avLst>
              <a:gd name="adj" fmla="val 4455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6288" y="4400550"/>
            <a:ext cx="56769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As variáveis contínuas foram padronizadas dentro de cada conjunto de treino: a base de teste nunca influencia essa etapa.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6100" y="1600200"/>
            <a:ext cx="47339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Calibri"/>
              </a:rPr>
              <a:t>Associação marginal com o cap rate  —  dCor</a:t>
            </a:r>
          </a:p>
        </p:txBody>
      </p:sp>
      <p:graphicFrame>
        <p:nvGraphicFramePr>
          <p:cNvPr id="17" name="dCor marginal"/>
          <p:cNvGraphicFramePr>
            <a:graphicFrameLocks noGrp="1"/>
          </p:cNvGraphicFramePr>
          <p:nvPr/>
        </p:nvGraphicFramePr>
        <p:xfrm>
          <a:off x="6896100" y="1885950"/>
          <a:ext cx="4733925" cy="2381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96100" y="4381500"/>
            <a:ext cx="473392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B6775"/>
                </a:solidFill>
                <a:latin typeface="Calibri"/>
              </a:rPr>
              <a:t>A distance correlation capta dependências não lineares que o Pearson subestima: o padrão construtivo marca dCor = 0,375 contra |ρ| = 0,28 de Spearman.</a:t>
            </a:r>
          </a:p>
        </p:txBody>
      </p:sp>
      <p:sp>
        <p:nvSpPr>
          <p:cNvPr id="19" name="Fonte"/>
          <p:cNvSpPr txBox="1"/>
          <p:nvPr/>
        </p:nvSpPr>
        <p:spPr>
          <a:xfrm>
            <a:off x="566738" y="52197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Tabela 2 e seções 3.3 a 4.3.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As mesmas informações para os três especialistas. </a:t>
            </a:r>
            <a:r>
              <a:rPr sz="1700" b="1">
                <a:solidFill>
                  <a:srgbClr val="FFFFFF"/>
                </a:solidFill>
                <a:latin typeface="Calibri"/>
              </a:rPr>
              <a:t>Associações marginais modestas — daí a combinação.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4 · O MÉTODO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Antes dos resultados: as métricas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738" y="1676400"/>
            <a:ext cx="2594610" cy="22669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6288" y="1847850"/>
            <a:ext cx="217551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3658"/>
                </a:solidFill>
                <a:latin typeface="Calibri"/>
              </a:rPr>
              <a:t>RMSE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6288" y="2324100"/>
            <a:ext cx="2175510" cy="0"/>
          </a:xfrm>
          <a:prstGeom prst="line">
            <a:avLst/>
          </a:prstGeom>
          <a:ln w="9525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6288" y="2476500"/>
            <a:ext cx="217551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Qual é a magnitude do erro, penalizando mais os erros grandes?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6288" y="3429000"/>
            <a:ext cx="2175510" cy="3238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p.p.*  ·  menor é melhor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9948" y="1676400"/>
            <a:ext cx="2594610" cy="22669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9498" y="1847850"/>
            <a:ext cx="217551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3658"/>
                </a:solidFill>
                <a:latin typeface="Calibri"/>
              </a:rPr>
              <a:t>MAE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99498" y="2324100"/>
            <a:ext cx="2175510" cy="0"/>
          </a:xfrm>
          <a:prstGeom prst="line">
            <a:avLst/>
          </a:prstGeom>
          <a:ln w="9525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99498" y="2476500"/>
            <a:ext cx="217551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Qual é o erro absoluto médio, sem penalizar os extremos?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9498" y="3429000"/>
            <a:ext cx="2175510" cy="3238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p.p.*  ·  menor é melhor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158" y="1676400"/>
            <a:ext cx="2594610" cy="226695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2708" y="1847850"/>
            <a:ext cx="217551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3658"/>
                </a:solidFill>
                <a:latin typeface="Calibri"/>
              </a:rPr>
              <a:t>R²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2708" y="2324100"/>
            <a:ext cx="2175510" cy="0"/>
          </a:xfrm>
          <a:prstGeom prst="line">
            <a:avLst/>
          </a:prstGeom>
          <a:ln w="9525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22708" y="2476500"/>
            <a:ext cx="217551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Quanto o erro cai em relação à referência da média?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2708" y="3429000"/>
            <a:ext cx="2175510" cy="3238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maior é melhor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6368" y="1676400"/>
            <a:ext cx="2594610" cy="226695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5918" y="1847850"/>
            <a:ext cx="217551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3658"/>
                </a:solidFill>
                <a:latin typeface="Calibri"/>
              </a:rPr>
              <a:t>dCor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45918" y="2324100"/>
            <a:ext cx="2175510" cy="0"/>
          </a:xfrm>
          <a:prstGeom prst="line">
            <a:avLst/>
          </a:prstGeom>
          <a:ln w="9525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245918" y="2476500"/>
            <a:ext cx="217551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Qual é a dependência entre previsto e observado?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45918" y="3429000"/>
            <a:ext cx="2175510" cy="3238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associação de 0 a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738" y="4133850"/>
            <a:ext cx="11064240" cy="685800"/>
          </a:xfrm>
          <a:prstGeom prst="roundRect">
            <a:avLst>
              <a:gd name="adj" fmla="val 4455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338" y="4343400"/>
            <a:ext cx="106070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3658"/>
                </a:solidFill>
                <a:latin typeface="Calibri"/>
              </a:rPr>
              <a:t>*  p.p. = pontos percentuais: diferença aritmética entre duas taxas. De 6% para 8% a.a. são 2 p.p. — e não 2%.</a:t>
            </a:r>
          </a:p>
        </p:txBody>
      </p:sp>
      <p:sp>
        <p:nvSpPr>
          <p:cNvPr id="28" name="Fonte"/>
          <p:cNvSpPr txBox="1"/>
          <p:nvPr/>
        </p:nvSpPr>
        <p:spPr>
          <a:xfrm>
            <a:off x="566738" y="49911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seções 2.4 e 5.5. RMSE e MAE estão na unidade da decisão; R² e dCor são adimensionais.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dCor mede associação, não variância explicada: </a:t>
            </a:r>
            <a:r>
              <a:rPr sz="1800" b="1">
                <a:solidFill>
                  <a:srgbClr val="FFFFFF"/>
                </a:solidFill>
                <a:latin typeface="Calibri"/>
              </a:rPr>
              <a:t>não compare 0,52 de dCor com 0,26 de R².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4 · O MÉTODO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Como avaliamos fora do treino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600200"/>
            <a:ext cx="7810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Calibri"/>
              </a:rPr>
              <a:t>Validação cruzada em cinco partes  ·  divisão aleatória, embaralhamento e semente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8" y="2066925"/>
            <a:ext cx="81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775"/>
                </a:solidFill>
                <a:latin typeface="Calibri"/>
              </a:rPr>
              <a:t>Rodada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1138" y="1962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F0A81C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TESTE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81288" y="1962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1438" y="1962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1588" y="1962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738" y="1962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738" y="2638425"/>
            <a:ext cx="81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775"/>
                </a:solidFill>
                <a:latin typeface="Calibri"/>
              </a:rPr>
              <a:t>Rodada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81138" y="25336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1288" y="25336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F0A81C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TESTE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1438" y="25336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1588" y="25336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738" y="25336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738" y="3209925"/>
            <a:ext cx="81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775"/>
                </a:solidFill>
                <a:latin typeface="Calibri"/>
              </a:rPr>
              <a:t>Rodada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138" y="3105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81288" y="3105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1438" y="3105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F0A81C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TESTE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1588" y="3105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1738" y="3105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738" y="3781425"/>
            <a:ext cx="81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775"/>
                </a:solidFill>
                <a:latin typeface="Calibri"/>
              </a:rPr>
              <a:t>Rodada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81138" y="36766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81288" y="36766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1438" y="36766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81588" y="36766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F0A81C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TESTE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1738" y="36766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738" y="4352925"/>
            <a:ext cx="81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775"/>
                </a:solidFill>
                <a:latin typeface="Calibri"/>
              </a:rPr>
              <a:t>Rodada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81138" y="4248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81288" y="4248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1438" y="4248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81588" y="4248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0">
                <a:solidFill>
                  <a:srgbClr val="5B6775"/>
                </a:solidFill>
                <a:latin typeface="Calibri"/>
              </a:rPr>
              <a:t>treino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1738" y="4248150"/>
            <a:ext cx="1123950" cy="495300"/>
          </a:xfrm>
          <a:prstGeom prst="roundRect">
            <a:avLst>
              <a:gd name="adj" fmla="val 14000"/>
            </a:avLst>
          </a:prstGeom>
          <a:solidFill>
            <a:srgbClr val="F0A81C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250" b="1">
                <a:solidFill>
                  <a:srgbClr val="0B3658"/>
                </a:solidFill>
                <a:latin typeface="Calibri"/>
              </a:rPr>
              <a:t>TESTE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20000" y="1962150"/>
            <a:ext cx="4010025" cy="12954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29550" y="2095500"/>
            <a:ext cx="35909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B3658"/>
                </a:solidFill>
                <a:latin typeface="Calibri"/>
              </a:rPr>
              <a:t>Cada imóvel é estimado</a:t>
            </a:r>
          </a:p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B3658"/>
                </a:solidFill>
                <a:latin typeface="Calibri"/>
              </a:rPr>
              <a:t>exatamente uma vez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9550" y="2628900"/>
            <a:ext cx="35909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Em cada rodada o modelo treina em quatro partes e prevê a quinta — por um modelo que não o viu no treino.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20000" y="3448050"/>
            <a:ext cx="4010025" cy="1295400"/>
          </a:xfrm>
          <a:prstGeom prst="roundRect">
            <a:avLst>
              <a:gd name="adj" fmla="val 4455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29550" y="3581400"/>
            <a:ext cx="35909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Calibri"/>
              </a:rPr>
              <a:t>247 previsões</a:t>
            </a:r>
          </a:p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Calibri"/>
              </a:rPr>
              <a:t>fora do treino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9550" y="4114800"/>
            <a:ext cx="35909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9D6E3"/>
                </a:solidFill>
                <a:latin typeface="Calibri"/>
              </a:rPr>
              <a:t>As previsões out-of-fold são reunidas e as métricas são calculadas sobre esse conjunto completo.</a:t>
            </a:r>
          </a:p>
        </p:txBody>
      </p:sp>
      <p:sp>
        <p:nvSpPr>
          <p:cNvPr id="43" name="Fonte"/>
          <p:cNvSpPr txBox="1"/>
          <p:nvPr/>
        </p:nvSpPr>
        <p:spPr>
          <a:xfrm>
            <a:off x="566738" y="52197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seção 5.5. Protocolo idêntico para os três especialistas e para a combinação.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Isto é validação cruzada, </a:t>
            </a:r>
            <a:r>
              <a:rPr sz="1800" b="1">
                <a:solidFill>
                  <a:srgbClr val="FFFFFF"/>
                </a:solidFill>
                <a:latin typeface="Calibri"/>
              </a:rPr>
              <a:t>não um teste externo independente</a:t>
            </a:r>
            <a:r>
              <a:rPr sz="1800" b="0">
                <a:solidFill>
                  <a:srgbClr val="FFFFFF"/>
                </a:solidFill>
                <a:latin typeface="Calibri"/>
              </a:rPr>
              <a:t> — ponto retomado nos limites.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4 · O MÉTODO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Os três especialistas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738" y="1600200"/>
            <a:ext cx="3535680" cy="30289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338" y="1771650"/>
            <a:ext cx="30784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ESPECIALISTA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338" y="1981200"/>
            <a:ext cx="30784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0B3658"/>
                </a:solidFill>
                <a:latin typeface="Calibri"/>
              </a:rPr>
              <a:t>Regressão 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338" y="2533650"/>
            <a:ext cx="307848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Calibri"/>
              </a:rPr>
              <a:t>Tendências médias com penalização L2 dos coeficientes. Âncora da leitura econômica.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5338" y="3314700"/>
            <a:ext cx="3078480" cy="0"/>
          </a:xfrm>
          <a:prstGeom prst="line">
            <a:avLst/>
          </a:prstGeom>
          <a:ln w="9525">
            <a:solidFill>
              <a:srgbClr val="BB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5338" y="3448050"/>
            <a:ext cx="95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5B6775"/>
                </a:solidFill>
                <a:latin typeface="Calibr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688" y="3448050"/>
            <a:ext cx="294513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A37"/>
                </a:solidFill>
                <a:latin typeface="Calibri"/>
              </a:rPr>
              <a:t>RidgeCV interno com 5 partes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338" y="3752850"/>
            <a:ext cx="95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5B6775"/>
                </a:solidFill>
                <a:latin typeface="Calibr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688" y="3752850"/>
            <a:ext cx="294513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A37"/>
                </a:solidFill>
                <a:latin typeface="Calibri"/>
              </a:rPr>
              <a:t>50 valores de α de 10⁻³ a 10⁴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338" y="4057650"/>
            <a:ext cx="95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5B6775"/>
                </a:solidFill>
                <a:latin typeface="Calibri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688" y="4057650"/>
            <a:ext cx="294513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A37"/>
                </a:solidFill>
                <a:latin typeface="Calibri"/>
              </a:rPr>
              <a:t>α final = 51,8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1018" y="1600200"/>
            <a:ext cx="3535680" cy="3028950"/>
          </a:xfrm>
          <a:prstGeom prst="roundRect">
            <a:avLst>
              <a:gd name="adj" fmla="val 4455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9618" y="1771650"/>
            <a:ext cx="30784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9FB6CC"/>
                </a:solidFill>
                <a:latin typeface="Calibri"/>
              </a:rPr>
              <a:t>ESPECIALISTA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618" y="1981200"/>
            <a:ext cx="30784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Árvore de regressão rasa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618" y="2533650"/>
            <a:ext cx="307848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D6E2EC"/>
                </a:solidFill>
                <a:latin typeface="Calibri"/>
              </a:rPr>
              <a:t>Regras condicionais do tipo "se… então", legíveis pelo avaliador.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59618" y="3314700"/>
            <a:ext cx="3078480" cy="0"/>
          </a:xfrm>
          <a:prstGeom prst="line">
            <a:avLst/>
          </a:prstGeom>
          <a:ln w="9525">
            <a:solidFill>
              <a:srgbClr val="3559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59618" y="3448050"/>
            <a:ext cx="95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9FB6CC"/>
                </a:solidFill>
                <a:latin typeface="Calibr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2968" y="3448050"/>
            <a:ext cx="294513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6E2EC"/>
                </a:solidFill>
                <a:latin typeface="Calibri"/>
              </a:rPr>
              <a:t>Profundidade máxima =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9618" y="3752850"/>
            <a:ext cx="95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9FB6CC"/>
                </a:solidFill>
                <a:latin typeface="Calibri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2968" y="3752850"/>
            <a:ext cx="294513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6E2EC"/>
                </a:solidFill>
                <a:latin typeface="Calibri"/>
              </a:rPr>
              <a:t>Mínimo de 10 casos por folha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9618" y="4057650"/>
            <a:ext cx="95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9FB6CC"/>
                </a:solidFill>
                <a:latin typeface="Calibr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2968" y="4057650"/>
            <a:ext cx="294513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6E2EC"/>
                </a:solidFill>
                <a:latin typeface="Calibri"/>
              </a:rPr>
              <a:t>12 nós terminais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5298" y="1600200"/>
            <a:ext cx="3535680" cy="302895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3898" y="1771650"/>
            <a:ext cx="30784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8A6B21"/>
                </a:solidFill>
                <a:latin typeface="Calibri"/>
              </a:rPr>
              <a:t>ESPECIALISTA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3898" y="1981200"/>
            <a:ext cx="30784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0B3658"/>
                </a:solidFill>
                <a:latin typeface="Calibri"/>
              </a:rPr>
              <a:t>Rede neural MLP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3898" y="2533650"/>
            <a:ext cx="307848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Calibri"/>
              </a:rPr>
              <a:t>Combinações não lineares dos atributos, com arquitetura deliberadamente compacta.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3898" y="3314700"/>
            <a:ext cx="3078480" cy="0"/>
          </a:xfrm>
          <a:prstGeom prst="line">
            <a:avLst/>
          </a:prstGeom>
          <a:ln w="9525">
            <a:solidFill>
              <a:srgbClr val="BB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23898" y="3448050"/>
            <a:ext cx="95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8A6B21"/>
                </a:solidFill>
                <a:latin typeface="Calibr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7248" y="3448050"/>
            <a:ext cx="294513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A37"/>
                </a:solidFill>
                <a:latin typeface="Calibri"/>
              </a:rPr>
              <a:t>64 → 32 neurônios · ReLU · Adam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3898" y="3752850"/>
            <a:ext cx="95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8A6B21"/>
                </a:solidFill>
                <a:latin typeface="Calibri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7248" y="3752850"/>
            <a:ext cx="294513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A37"/>
                </a:solidFill>
                <a:latin typeface="Calibri"/>
              </a:rPr>
              <a:t>Parada antecipada, paciência 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3898" y="4057650"/>
            <a:ext cx="95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8A6B21"/>
                </a:solidFill>
                <a:latin typeface="Calibri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7248" y="4057650"/>
            <a:ext cx="294513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A37"/>
                </a:solidFill>
                <a:latin typeface="Calibri"/>
              </a:rPr>
              <a:t>Regularização L2 · semente 42</a:t>
            </a:r>
          </a:p>
        </p:txBody>
      </p:sp>
      <p:sp>
        <p:nvSpPr>
          <p:cNvPr id="39" name="Fonte"/>
          <p:cNvSpPr txBox="1"/>
          <p:nvPr/>
        </p:nvSpPr>
        <p:spPr>
          <a:xfrm>
            <a:off x="566738" y="485775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seções 5.2 a 5.4. Escala original do cap rate; variáveis contínuas padronizadas no treino.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A complexidade de cada modelo precisa caber na informação disponível: </a:t>
            </a:r>
            <a:r>
              <a:rPr sz="1800" b="1">
                <a:solidFill>
                  <a:srgbClr val="FFFFFF"/>
                </a:solidFill>
                <a:latin typeface="Calibri"/>
              </a:rPr>
              <a:t>n = 247.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4 · O MÉTODO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Como a combinação integra as previsões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600200"/>
            <a:ext cx="5143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Calibri"/>
              </a:rPr>
              <a:t>Coeficientes do integrador Ridge</a:t>
            </a:r>
          </a:p>
        </p:txBody>
      </p:sp>
      <p:graphicFrame>
        <p:nvGraphicFramePr>
          <p:cNvPr id="7" name="Coeficientes do integrador"/>
          <p:cNvGraphicFramePr>
            <a:graphicFrameLocks noGrp="1"/>
          </p:cNvGraphicFramePr>
          <p:nvPr/>
        </p:nvGraphicFramePr>
        <p:xfrm>
          <a:off x="566738" y="1885950"/>
          <a:ext cx="5143500" cy="3143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738" y="5105400"/>
            <a:ext cx="5143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775"/>
                </a:solidFill>
                <a:latin typeface="Calibri"/>
              </a:rPr>
              <a:t>A Ridge entra com peso praticamente nulo (0,0035).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1600200"/>
            <a:ext cx="5534025" cy="10668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5550" y="1733550"/>
            <a:ext cx="51149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B3658"/>
                </a:solidFill>
                <a:latin typeface="Calibri"/>
              </a:rPr>
              <a:t>As previsões entram no lugar dos atributos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5550" y="2000250"/>
            <a:ext cx="5114925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O meta-aprendiz recebe as três previsões feitas fora do treino — não os atributos do imóvel — e aprende a combinação que minimiza o erro conjunto.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0" y="2781300"/>
            <a:ext cx="5534025" cy="106680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5550" y="2914650"/>
            <a:ext cx="51149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B3658"/>
                </a:solidFill>
                <a:latin typeface="Calibri"/>
              </a:rPr>
              <a:t>Os coeficientes não são percentuais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5550" y="3181350"/>
            <a:ext cx="5114925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São coeficientes de uma regressão com intercepto: não somam 100% e não representam participação proporcional.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3962400"/>
            <a:ext cx="5534025" cy="106680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550" y="4095750"/>
            <a:ext cx="51149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B3658"/>
                </a:solidFill>
                <a:latin typeface="Calibri"/>
              </a:rPr>
              <a:t>A Ridge continua útil, mas não como preditor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5550" y="4362450"/>
            <a:ext cx="5114925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Com peso próximo de zero, ela permanece como âncora interpretável: fornece coeficientes de leitura econômica direta.</a:t>
            </a:r>
          </a:p>
        </p:txBody>
      </p:sp>
      <p:sp>
        <p:nvSpPr>
          <p:cNvPr id="18" name="Fonte"/>
          <p:cNvSpPr txBox="1"/>
          <p:nvPr/>
        </p:nvSpPr>
        <p:spPr>
          <a:xfrm>
            <a:off x="566738" y="531495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seções 2.5, 5.1 e 7.1. Combinação por stacking com meta-aprendiz Ridge.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Quase toda a previsão final apoia-se na </a:t>
            </a:r>
            <a:r>
              <a:rPr sz="1700" b="1">
                <a:solidFill>
                  <a:srgbClr val="FFFFFF"/>
                </a:solidFill>
                <a:latin typeface="Calibri"/>
              </a:rPr>
              <a:t>árvore (0,5144) e na rede neural (0,4217)</a:t>
            </a:r>
            <a:r>
              <a:rPr sz="1700" b="0">
                <a:solidFill>
                  <a:srgbClr val="FFFFFF"/>
                </a:solidFill>
                <a:latin typeface="Calibri"/>
              </a:rPr>
              <a:t>: o sinal é predominantemente não linear.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5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A combinação teve o menor erro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600200"/>
            <a:ext cx="6096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Calibri"/>
              </a:rPr>
              <a:t>RMSE sobre as 247 previsões fora do treino  —  p.p. de cap rate</a:t>
            </a:r>
          </a:p>
        </p:txBody>
      </p:sp>
      <p:graphicFrame>
        <p:nvGraphicFramePr>
          <p:cNvPr id="7" name="RMSE por modelo"/>
          <p:cNvGraphicFramePr>
            <a:graphicFrameLocks noGrp="1"/>
          </p:cNvGraphicFramePr>
          <p:nvPr/>
        </p:nvGraphicFramePr>
        <p:xfrm>
          <a:off x="566738" y="1885950"/>
          <a:ext cx="6096000" cy="304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738" y="5029200"/>
            <a:ext cx="609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5"/>
                </a:solidFill>
                <a:latin typeface="Calibri"/>
              </a:rPr>
              <a:t>Escala a partir de zero: o ganho não parece maior do que 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8500" y="1600200"/>
            <a:ext cx="4581525" cy="10477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8525" y="1664018"/>
            <a:ext cx="41814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B3658"/>
                </a:solidFill>
                <a:latin typeface="Calibri"/>
              </a:rPr>
              <a:t>2,3933 p.p.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8525" y="2093404"/>
            <a:ext cx="41814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RMSE da combinação — o menor entre os quatro modelos avaliados.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8500" y="2762250"/>
            <a:ext cx="4581525" cy="104775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8525" y="2826068"/>
            <a:ext cx="41814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B3658"/>
                </a:solidFill>
                <a:latin typeface="Calibri"/>
              </a:rPr>
              <a:t>− 1,27%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8525" y="3255454"/>
            <a:ext cx="41814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Redução relativa frente à árvore, o melhor especialista isolado (2,4241 p.p.).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8500" y="3924300"/>
            <a:ext cx="4581525" cy="104775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8525" y="3988118"/>
            <a:ext cx="41814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BB1F2C"/>
                </a:solidFill>
                <a:latin typeface="Calibri"/>
              </a:rPr>
              <a:t>0,0308 p.p.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8525" y="4417504"/>
            <a:ext cx="41814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A diferença absoluta. O artigo não apresenta teste de significância dessa diferença.</a:t>
            </a:r>
          </a:p>
        </p:txBody>
      </p:sp>
      <p:sp>
        <p:nvSpPr>
          <p:cNvPr id="18" name="Fonte"/>
          <p:cNvSpPr txBox="1"/>
          <p:nvPr/>
        </p:nvSpPr>
        <p:spPr>
          <a:xfrm>
            <a:off x="566738" y="52197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Tabela 4. Redução relativa: (2,4241 − 2,3933) / 2,4241 = 1,27%.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O ganho é real no protocolo avaliado — e é modesto: </a:t>
            </a:r>
            <a:r>
              <a:rPr sz="1800" b="1">
                <a:solidFill>
                  <a:srgbClr val="FFFFFF"/>
                </a:solidFill>
                <a:latin typeface="Calibri"/>
              </a:rPr>
              <a:t>1,27% de RMSE.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5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O resultado nas quatro métricas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15</a:t>
            </a:r>
          </a:p>
        </p:txBody>
      </p:sp>
      <p:graphicFrame>
        <p:nvGraphicFramePr>
          <p:cNvPr id="6" name="Tabela"/>
          <p:cNvGraphicFramePr>
            <a:graphicFrameLocks noGrp="1"/>
          </p:cNvGraphicFramePr>
          <p:nvPr/>
        </p:nvGraphicFramePr>
        <p:xfrm>
          <a:off x="566738" y="1714500"/>
          <a:ext cx="1106424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34740"/>
                <a:gridCol w="1857375"/>
                <a:gridCol w="1857375"/>
                <a:gridCol w="1857375"/>
                <a:gridCol w="185737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152400" marR="114300" marT="57150" marB="57150" anchor="ctr">
                    <a:solidFill>
                      <a:srgbClr val="0B3658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RMSE (p.p.)</a:t>
                      </a:r>
                    </a:p>
                  </a:txBody>
                  <a:tcPr marL="152400" marR="114300" marT="57150" marB="57150" anchor="ctr">
                    <a:solidFill>
                      <a:srgbClr val="0B3658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MAE (p.p.)</a:t>
                      </a:r>
                    </a:p>
                  </a:txBody>
                  <a:tcPr marL="152400" marR="114300" marT="57150" marB="57150" anchor="ctr">
                    <a:solidFill>
                      <a:srgbClr val="0B3658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152400" marR="114300" marT="57150" marB="57150" anchor="ctr">
                    <a:solidFill>
                      <a:srgbClr val="0B3658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dCor</a:t>
                      </a:r>
                    </a:p>
                  </a:txBody>
                  <a:tcPr marL="152400" marR="114300" marT="57150" marB="57150" anchor="ctr">
                    <a:solidFill>
                      <a:srgbClr val="0B3658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2,5266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1,8745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0,1786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0,4615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Calibri"/>
                        </a:rPr>
                        <a:t>Árvore de regressão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2,4241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1,7878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0,2439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0,5131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Calibri"/>
                        </a:rPr>
                        <a:t>Rede neural MLP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2,5907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1,9572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0,1364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0,4322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Calibri"/>
                        </a:rPr>
                        <a:t>Combinação</a:t>
                      </a:r>
                    </a:p>
                  </a:txBody>
                  <a:tcPr marL="152400" marR="114300" marT="57150" marB="57150" anchor="ctr">
                    <a:solidFill>
                      <a:srgbClr val="FBE3AE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2,3933</a:t>
                      </a:r>
                    </a:p>
                  </a:txBody>
                  <a:tcPr marL="152400" marR="114300" marT="57150" marB="57150" anchor="ctr">
                    <a:solidFill>
                      <a:srgbClr val="FBE3AE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1,7836</a:t>
                      </a:r>
                    </a:p>
                  </a:txBody>
                  <a:tcPr marL="152400" marR="114300" marT="57150" marB="57150" anchor="ctr">
                    <a:solidFill>
                      <a:srgbClr val="FBE3AE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0,2630</a:t>
                      </a:r>
                    </a:p>
                  </a:txBody>
                  <a:tcPr marL="152400" marR="114300" marT="57150" marB="57150" anchor="ctr">
                    <a:solidFill>
                      <a:srgbClr val="FBE3AE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0,5214</a:t>
                      </a:r>
                    </a:p>
                  </a:txBody>
                  <a:tcPr marL="152400" marR="114300" marT="57150" marB="57150" anchor="ctr">
                    <a:solidFill>
                      <a:srgbClr val="FBE3AE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738" y="4362450"/>
            <a:ext cx="11064240" cy="72390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338" y="4533900"/>
            <a:ext cx="1060704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A MLP isolada foi a pior das três — maior RMSE e menor R². Um modelo individualmente inferior ainda pode contribuir para a combinação, mas a magnitude desse benefício precisa de validação.</a:t>
            </a:r>
          </a:p>
        </p:txBody>
      </p:sp>
      <p:sp>
        <p:nvSpPr>
          <p:cNvPr id="9" name="Fonte"/>
          <p:cNvSpPr txBox="1"/>
          <p:nvPr/>
        </p:nvSpPr>
        <p:spPr>
          <a:xfrm>
            <a:off x="566738" y="52197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Tabela 4. Métricas calculadas sobre as 247 previsões out-of-fold.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A linha da combinação é a melhor nas quatro métricas. </a:t>
            </a:r>
            <a:r>
              <a:rPr sz="1700" b="1">
                <a:solidFill>
                  <a:srgbClr val="FFFFFF"/>
                </a:solidFill>
                <a:latin typeface="Calibri"/>
              </a:rPr>
              <a:t>Não atribuir significância estatística sem teste apropriado.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5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O que a árvore permite explicar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7232" y="1695450"/>
            <a:ext cx="3143250" cy="57150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padrão construtivo ≤ 4,03 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8858" y="2266950"/>
            <a:ext cx="0" cy="247650"/>
          </a:xfrm>
          <a:prstGeom prst="line">
            <a:avLst/>
          </a:prstGeom>
          <a:ln w="15875">
            <a:solidFill>
              <a:srgbClr val="A9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32798" y="2514600"/>
            <a:ext cx="5532120" cy="0"/>
          </a:xfrm>
          <a:prstGeom prst="line">
            <a:avLst/>
          </a:prstGeom>
          <a:ln w="15875">
            <a:solidFill>
              <a:srgbClr val="A9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332798" y="2514600"/>
            <a:ext cx="0" cy="228600"/>
          </a:xfrm>
          <a:prstGeom prst="line">
            <a:avLst/>
          </a:prstGeom>
          <a:ln w="15875">
            <a:solidFill>
              <a:srgbClr val="A9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4918" y="2514600"/>
            <a:ext cx="0" cy="228600"/>
          </a:xfrm>
          <a:prstGeom prst="line">
            <a:avLst/>
          </a:prstGeom>
          <a:ln w="15875">
            <a:solidFill>
              <a:srgbClr val="A9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61172" y="2743200"/>
            <a:ext cx="3143250" cy="457200"/>
          </a:xfrm>
          <a:prstGeom prst="roundRect">
            <a:avLst>
              <a:gd name="adj" fmla="val 14000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300" b="1">
                <a:solidFill>
                  <a:srgbClr val="0B3658"/>
                </a:solidFill>
                <a:latin typeface="Calibri"/>
              </a:rPr>
              <a:t>SIM  ·  menor padrão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2798" y="3200400"/>
            <a:ext cx="0" cy="228600"/>
          </a:xfrm>
          <a:prstGeom prst="line">
            <a:avLst/>
          </a:prstGeom>
          <a:ln w="15875">
            <a:solidFill>
              <a:srgbClr val="A9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523047" y="3429000"/>
            <a:ext cx="3619500" cy="125730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1647" y="360045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3658"/>
                </a:solidFill>
                <a:latin typeface="Calibri"/>
              </a:rPr>
              <a:t>Unidades de até 41 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1647" y="3905250"/>
            <a:ext cx="31623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chegam a uma folha com cap rate de 11,48% a.a. — a mais alta da árvore.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3292" y="2743200"/>
            <a:ext cx="3143250" cy="457200"/>
          </a:xfrm>
          <a:prstGeom prst="roundRect">
            <a:avLst>
              <a:gd name="adj" fmla="val 14000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 lIns="85725" tIns="47625" rIns="85725" bIns="47625"/>
          <a:lstStyle/>
          <a:p>
            <a:pPr algn="ctr"/>
            <a:r>
              <a:rPr sz="1300" b="1">
                <a:solidFill>
                  <a:srgbClr val="0B3658"/>
                </a:solidFill>
                <a:latin typeface="Calibri"/>
              </a:rPr>
              <a:t>NÃO  ·  maior padrão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4918" y="3200400"/>
            <a:ext cx="0" cy="228600"/>
          </a:xfrm>
          <a:prstGeom prst="line">
            <a:avLst/>
          </a:prstGeom>
          <a:ln w="15875">
            <a:solidFill>
              <a:srgbClr val="A9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55167" y="3429000"/>
            <a:ext cx="3619500" cy="12573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3767" y="360045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3658"/>
                </a:solidFill>
                <a:latin typeface="Calibri"/>
              </a:rPr>
              <a:t>Vila Olímpia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3767" y="3905250"/>
            <a:ext cx="31623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aparece como critério de segmentação dos imóveis premium dessa região.</a:t>
            </a:r>
          </a:p>
        </p:txBody>
      </p:sp>
      <p:sp>
        <p:nvSpPr>
          <p:cNvPr id="21" name="Fonte"/>
          <p:cNvSpPr txBox="1"/>
          <p:nvPr/>
        </p:nvSpPr>
        <p:spPr>
          <a:xfrm>
            <a:off x="566738" y="48768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seção 5.3. Leitura parcial das regras da árvore ajustada: profundidade 5, 12 nós terminais.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A árvore transforma a previsão em uma regra que o avaliador pode examinar — </a:t>
            </a:r>
            <a:r>
              <a:rPr sz="1700" b="1">
                <a:solidFill>
                  <a:srgbClr val="FFFFFF"/>
                </a:solidFill>
                <a:latin typeface="Calibri"/>
              </a:rPr>
              <a:t>regras do modelo, não leis de precificação.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5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Quais informações mais pesaram?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600200"/>
            <a:ext cx="6096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Calibri"/>
              </a:rPr>
              <a:t>Importância por permutação  —  aumento médio do RMSE</a:t>
            </a:r>
          </a:p>
        </p:txBody>
      </p:sp>
      <p:graphicFrame>
        <p:nvGraphicFramePr>
          <p:cNvPr id="7" name="Importância"/>
          <p:cNvGraphicFramePr>
            <a:graphicFrameLocks noGrp="1"/>
          </p:cNvGraphicFramePr>
          <p:nvPr/>
        </p:nvGraphicFramePr>
        <p:xfrm>
          <a:off x="566738" y="1885950"/>
          <a:ext cx="60960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738" y="4857750"/>
            <a:ext cx="609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5"/>
                </a:solidFill>
                <a:latin typeface="Calibri"/>
              </a:rPr>
              <a:t>Média dos três especialistas · 20 repetições · semente 42.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8500" y="1600200"/>
            <a:ext cx="4581525" cy="10477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8050" y="1733550"/>
            <a:ext cx="41624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B3658"/>
                </a:solidFill>
                <a:latin typeface="Calibri"/>
              </a:rPr>
              <a:t>Como se mede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8050" y="2000250"/>
            <a:ext cx="41624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Embaralha-se a variável e mede-se quanto o erro aumenta. Maior aumento, maior dependência do modelo daquela informação.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8500" y="2762250"/>
            <a:ext cx="4581525" cy="104775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8050" y="2895600"/>
            <a:ext cx="41624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B3658"/>
                </a:solidFill>
                <a:latin typeface="Calibri"/>
              </a:rPr>
              <a:t>Por que Vila Olímpia lidera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8050" y="3162300"/>
            <a:ext cx="41624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A região tem estrutura bimodal: lajes institucionais de yield comprimido convivem com conjuntos menores a taxas altas.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8500" y="3924300"/>
            <a:ext cx="4581525" cy="104775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8050" y="4057650"/>
            <a:ext cx="41624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B3658"/>
                </a:solidFill>
                <a:latin typeface="Calibri"/>
              </a:rPr>
              <a:t>Como 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8050" y="4324350"/>
            <a:ext cx="41624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Associação preditiva, não causalidade. Dependências entre variáveis afetam a leitura.</a:t>
            </a:r>
          </a:p>
        </p:txBody>
      </p:sp>
      <p:sp>
        <p:nvSpPr>
          <p:cNvPr id="18" name="Fonte"/>
          <p:cNvSpPr txBox="1"/>
          <p:nvPr/>
        </p:nvSpPr>
        <p:spPr>
          <a:xfrm>
            <a:off x="566738" y="52197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seção 6.3 e Figura 8.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Os três especialistas apontam as mesmas variáveis: </a:t>
            </a:r>
            <a:r>
              <a:rPr sz="1800" b="1">
                <a:solidFill>
                  <a:srgbClr val="FFFFFF"/>
                </a:solidFill>
                <a:latin typeface="Calibri"/>
              </a:rPr>
              <a:t>robustez dos determinantes identificados.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5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O limite preditivo continua relevante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676400"/>
            <a:ext cx="5143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3658"/>
                </a:solidFill>
                <a:latin typeface="Calibri"/>
              </a:rPr>
              <a:t>O poder explicativo ficou baixo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8" y="2133600"/>
            <a:ext cx="5143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A37"/>
                </a:solidFill>
                <a:latin typeface="Calibri"/>
              </a:rPr>
              <a:t>Cerca de três quartos da variação do cap rate permanecem fora do alcance do modelo.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738" y="2781300"/>
            <a:ext cx="5143500" cy="10668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6288" y="2914650"/>
            <a:ext cx="4724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B3658"/>
                </a:solidFill>
                <a:latin typeface="Calibri"/>
              </a:rPr>
              <a:t>A variabilidade sistemática é pequena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288" y="3181350"/>
            <a:ext cx="4724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64% da amostra está entre 5% e 9% a.a. e a amplitude interquartil é de apenas 3,1 p.p. Havendo pouca variação a explicar, a correlação fica naturalmente baixa.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738" y="3981450"/>
            <a:ext cx="5143500" cy="106680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6288" y="4114800"/>
            <a:ext cx="4724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B3658"/>
                </a:solidFill>
                <a:latin typeface="Calibri"/>
              </a:rPr>
              <a:t>O modelo comprime os extremos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288" y="4381500"/>
            <a:ext cx="4724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As previsões dispersam metade do observado — 1,3 p.p. contra 2,8 p.p. — e a nuvem fica mais achatada que a linha de ajuste perfeito.</a:t>
            </a:r>
          </a:p>
        </p:txBody>
      </p:sp>
      <p:graphicFrame>
        <p:nvGraphicFramePr>
          <p:cNvPr id="14" name="Previsto × observado"/>
          <p:cNvGraphicFramePr>
            <a:graphicFrameLocks noGrp="1"/>
          </p:cNvGraphicFramePr>
          <p:nvPr/>
        </p:nvGraphicFramePr>
        <p:xfrm>
          <a:off x="6096000" y="1866900"/>
          <a:ext cx="5534025" cy="31813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6000" y="1600200"/>
            <a:ext cx="55340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Calibri"/>
              </a:rPr>
              <a:t>Combinação  ·  cap rate previsto (eixo y) × observado (eixo x), em % a.a.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5105400"/>
            <a:ext cx="55340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5"/>
                </a:solidFill>
                <a:latin typeface="Calibri"/>
              </a:rPr>
              <a:t>Previsões out-of-fold da combinação (n = 247) · base pública no Kaggle.</a:t>
            </a:r>
          </a:p>
        </p:txBody>
      </p:sp>
      <p:sp>
        <p:nvSpPr>
          <p:cNvPr id="17" name="Fonte"/>
          <p:cNvSpPr txBox="1"/>
          <p:nvPr/>
        </p:nvSpPr>
        <p:spPr>
          <a:xfrm>
            <a:off x="566738" y="529590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Tabela 4 e seção 7.2.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dCor = 0,5214 coincide com |r| = 0,51: </a:t>
            </a:r>
            <a:r>
              <a:rPr sz="1700" b="1">
                <a:solidFill>
                  <a:srgbClr val="FFFFFF"/>
                </a:solidFill>
                <a:latin typeface="Calibri"/>
              </a:rPr>
              <a:t>a relação previsto × observado é essencialmente linear.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6 · LIMITES E USO PROFISSIONAL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Um cuidado: unidades do mesmo prédio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738" y="1600200"/>
            <a:ext cx="3535680" cy="13335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338" y="1733550"/>
            <a:ext cx="307848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B3658"/>
                </a:solidFill>
                <a:latin typeface="Calibri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338" y="2381250"/>
            <a:ext cx="307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prédios concentram duas ou mais unidades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1018" y="1600200"/>
            <a:ext cx="3535680" cy="1333500"/>
          </a:xfrm>
          <a:prstGeom prst="roundRect">
            <a:avLst>
              <a:gd name="adj" fmla="val 4455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9618" y="1733550"/>
            <a:ext cx="307848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B3658"/>
                </a:solidFill>
                <a:latin typeface="Calibri"/>
              </a:rPr>
              <a:t>103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9618" y="2381250"/>
            <a:ext cx="307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das 247 observações estão nesses edifícios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5298" y="1600200"/>
            <a:ext cx="3535680" cy="133350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3898" y="1733550"/>
            <a:ext cx="307848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B3658"/>
                </a:solidFill>
                <a:latin typeface="Calibri"/>
              </a:rPr>
              <a:t>0,41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3898" y="2381250"/>
            <a:ext cx="307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correlação intraclasse por endereço (ICC)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738" y="3162300"/>
            <a:ext cx="5410200" cy="186690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338" y="33337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658"/>
                </a:solidFill>
                <a:latin typeface="Calibri"/>
              </a:rPr>
              <a:t>O que isso significa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338" y="3638550"/>
            <a:ext cx="4953000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A divisão aleatória pode colocar unidades do mesmo edifício no treino e no teste ao mesmo tempo. Como as taxas de um mesmo prédio são parecidas, a avaliação fica otimista quando o modelo é aplicado a edifícios que nunca viu.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0778" y="3162300"/>
            <a:ext cx="5410200" cy="1866900"/>
          </a:xfrm>
          <a:prstGeom prst="roundRect">
            <a:avLst>
              <a:gd name="adj" fmla="val 4455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9378" y="3333750"/>
            <a:ext cx="495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spc="140">
                <a:solidFill>
                  <a:srgbClr val="9FB6CC"/>
                </a:solidFill>
                <a:latin typeface="Calibri"/>
              </a:rPr>
              <a:t>PRÓXIMA VERIFICAÇÃO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9378" y="3562350"/>
            <a:ext cx="4953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Validação por grupos (GroupKFold por edifício)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9378" y="413385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C9D6E3"/>
                </a:solidFill>
                <a:latin typeface="Calibri"/>
              </a:rPr>
              <a:t>Recomendada no artigo, mas com resultados ainda não reportados. Até lá, o erro observado não deve ser apresentado como garantia de desempenho em prédios inéditos.</a:t>
            </a:r>
          </a:p>
        </p:txBody>
      </p:sp>
      <p:sp>
        <p:nvSpPr>
          <p:cNvPr id="22" name="Fonte"/>
          <p:cNvSpPr txBox="1"/>
          <p:nvPr/>
        </p:nvSpPr>
        <p:spPr>
          <a:xfrm>
            <a:off x="566738" y="52197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seção 7.3.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O erro medido descreve este protocolo — </a:t>
            </a:r>
            <a:r>
              <a:rPr sz="1800" b="1">
                <a:solidFill>
                  <a:srgbClr val="FFFFFF"/>
                </a:solidFill>
                <a:latin typeface="Calibri"/>
              </a:rPr>
              <a:t>não é garantia para edifícios inéditos.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6 · LIMITES E USO PROFISSIONAL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O risco que a base ainda não observa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738" y="1600200"/>
            <a:ext cx="3535680" cy="19621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338" y="1709738"/>
            <a:ext cx="30784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CONTRATO E OCUPAÇÃO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338" y="1909762"/>
            <a:ext cx="307848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658"/>
                </a:solidFill>
                <a:latin typeface="Calibri"/>
              </a:rPr>
              <a:t>Vacância e prazo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338" y="2175510"/>
            <a:ext cx="3078480" cy="1272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Vacância efetiva do edifício, prazo remanescente de locação, carências contratuais e indexador.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1018" y="1600200"/>
            <a:ext cx="3535680" cy="19621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9618" y="1709738"/>
            <a:ext cx="30784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LOCATÁRIO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618" y="1909762"/>
            <a:ext cx="307848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658"/>
                </a:solidFill>
                <a:latin typeface="Calibri"/>
              </a:rPr>
              <a:t>Risco de crédito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618" y="2175510"/>
            <a:ext cx="3078480" cy="1272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Perfil creditício do ocupante e risco de inadimplência — determinante primário do prêmio de risco.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298" y="1600200"/>
            <a:ext cx="3535680" cy="19621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3898" y="1709738"/>
            <a:ext cx="30784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5B6775"/>
                </a:solidFill>
                <a:latin typeface="Calibri"/>
              </a:rPr>
              <a:t>ATIVO E NEGÓCIO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3898" y="1909762"/>
            <a:ext cx="307848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658"/>
                </a:solidFill>
                <a:latin typeface="Calibri"/>
              </a:rPr>
              <a:t>Qualidade e negociação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3898" y="2175510"/>
            <a:ext cx="3078480" cy="1272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Idade do edifício, certificações, condições específicas do negócio e motivação das partes.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738" y="3771900"/>
            <a:ext cx="11064240" cy="1143000"/>
          </a:xfrm>
          <a:prstGeom prst="roundRect">
            <a:avLst>
              <a:gd name="adj" fmla="val 4455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438" y="3943350"/>
            <a:ext cx="18097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B1F2C"/>
                </a:solidFill>
                <a:latin typeface="Calibri"/>
              </a:rPr>
              <a:t>10,6 p.p.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3688" y="3962400"/>
            <a:ext cx="0" cy="800100"/>
          </a:xfrm>
          <a:prstGeom prst="line">
            <a:avLst/>
          </a:prstGeom>
          <a:ln w="12700">
            <a:solidFill>
              <a:srgbClr val="AE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81338" y="3943350"/>
            <a:ext cx="828294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A37"/>
                </a:solidFill>
                <a:latin typeface="Calibri"/>
              </a:rPr>
              <a:t>é a dispersão de cap rate observada entre unidades de um mesmo edifício (Rua Conde do Pinhal, 8). Dois imóveis fisicamente parecidos podem carregar riscos contratuais inteiramente diferentes — e a base não enxerga essa diferença.</a:t>
            </a:r>
          </a:p>
        </p:txBody>
      </p:sp>
      <p:sp>
        <p:nvSpPr>
          <p:cNvPr id="22" name="Fonte"/>
          <p:cNvSpPr txBox="1"/>
          <p:nvPr/>
        </p:nvSpPr>
        <p:spPr>
          <a:xfrm>
            <a:off x="566738" y="51054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seções 2.1, 7.2 e 7.3. As lacunas ajudam a interpretar o erro; sua contribuição não foi isolada.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Melhor informação tende a valer mais do que </a:t>
            </a:r>
            <a:r>
              <a:rPr sz="1800" b="1">
                <a:solidFill>
                  <a:srgbClr val="FFFFFF"/>
                </a:solidFill>
                <a:latin typeface="Calibri"/>
              </a:rPr>
              <a:t>mais complexidade algorítmica.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6 · LIMITES E USO PROFISSIONAL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A previsão como instrumento de triagem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600200"/>
            <a:ext cx="6096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Calibri"/>
              </a:rPr>
              <a:t>Exemplo inteiramente didático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738" y="1905000"/>
            <a:ext cx="5143500" cy="8763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338" y="207645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PREVISTO PELO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338" y="22669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3658"/>
                </a:solidFill>
                <a:latin typeface="Calibri"/>
              </a:rPr>
              <a:t>7,0% a.a.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738" y="2895600"/>
            <a:ext cx="5143500" cy="87630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338" y="306705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OBSERVADO NO IMÓVEL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338" y="32575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3658"/>
                </a:solidFill>
                <a:latin typeface="Calibri"/>
              </a:rPr>
              <a:t>12,0% a.a.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738" y="3886200"/>
            <a:ext cx="5143500" cy="87630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338" y="405765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DIVERGÊNCIA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338" y="42481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BB1F2C"/>
                </a:solidFill>
                <a:latin typeface="Calibri"/>
              </a:rPr>
              <a:t>5,0 p.p.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0" y="1905000"/>
            <a:ext cx="5534025" cy="1409700"/>
          </a:xfrm>
          <a:prstGeom prst="roundRect">
            <a:avLst>
              <a:gd name="adj" fmla="val 4455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600" y="2076450"/>
            <a:ext cx="50768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 que fazer com a divergência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2400300"/>
            <a:ext cx="95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9FB6CC"/>
                </a:solidFill>
                <a:latin typeface="Calibr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950" y="2400300"/>
            <a:ext cx="49434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6E2EC"/>
                </a:solidFill>
                <a:latin typeface="Calibri"/>
              </a:rPr>
              <a:t>Contrato, vacância e prazo remanescente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2628900"/>
            <a:ext cx="95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9FB6CC"/>
                </a:solidFill>
                <a:latin typeface="Calibr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950" y="2628900"/>
            <a:ext cx="49434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6E2EC"/>
                </a:solidFill>
                <a:latin typeface="Calibri"/>
              </a:rPr>
              <a:t>Perfil de crédito do locatário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600" y="2857500"/>
            <a:ext cx="95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9FB6CC"/>
                </a:solidFill>
                <a:latin typeface="Calibr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2857500"/>
            <a:ext cx="49434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6E2EC"/>
                </a:solidFill>
                <a:latin typeface="Calibri"/>
              </a:rPr>
              <a:t>Qualidade física e idade do edifício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600" y="3086100"/>
            <a:ext cx="95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9FB6CC"/>
                </a:solidFill>
                <a:latin typeface="Calibri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7950" y="3086100"/>
            <a:ext cx="49434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6E2EC"/>
                </a:solidFill>
                <a:latin typeface="Calibri"/>
              </a:rPr>
              <a:t>Condições da própria observação de mercado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6000" y="3467100"/>
            <a:ext cx="5534025" cy="133350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4600" y="3638550"/>
            <a:ext cx="50768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3658"/>
                </a:solidFill>
                <a:latin typeface="Calibri"/>
              </a:rPr>
              <a:t>2 × RMSE ≈ 4,79 p.p.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600" y="4000500"/>
            <a:ext cx="50768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Calibri"/>
              </a:rPr>
              <a:t>É uma referência exploratória de triagem: não é intervalo de confiança, não prova anomalia e não autoriza ajustar automaticamente a taxa. O passo seguinte é investigar o caso e a qualidade do dado.</a:t>
            </a:r>
          </a:p>
        </p:txBody>
      </p:sp>
      <p:sp>
        <p:nvSpPr>
          <p:cNvPr id="29" name="Fonte"/>
          <p:cNvSpPr txBox="1"/>
          <p:nvPr/>
        </p:nvSpPr>
        <p:spPr>
          <a:xfrm>
            <a:off x="566738" y="49911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seções 7.2 e 8. Exemplo ilustrativo; 2 × 2,3933 = 4,7866 p.p.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O modelo não substitui a conclusão: </a:t>
            </a:r>
            <a:r>
              <a:rPr sz="1800" b="1">
                <a:solidFill>
                  <a:srgbClr val="FFFFFF"/>
                </a:solidFill>
                <a:latin typeface="Calibri"/>
              </a:rPr>
              <a:t>ele diz onde olhar.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7 · CONCLUSÃO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Conclusões para a prática avaliatória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738" y="1600200"/>
            <a:ext cx="3535680" cy="255270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338" y="1771650"/>
            <a:ext cx="419100" cy="419100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338" y="2286000"/>
            <a:ext cx="307848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800" b="1" i="0">
                <a:solidFill>
                  <a:srgbClr val="0B3658"/>
                </a:solidFill>
                <a:latin typeface="Calibri"/>
              </a:rPr>
              <a:t>A combinação reduziu o erro nesta amostra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338" y="3143250"/>
            <a:ext cx="307848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Calibri"/>
              </a:rPr>
              <a:t>Ganho de 1,27% de RMSE sobre a melhor alternativa isolada, medido fora do treino — resultado observado, não demonstrado por teste de significância.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1018" y="1600200"/>
            <a:ext cx="3535680" cy="255270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9618" y="1771650"/>
            <a:ext cx="419100" cy="419100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618" y="2286000"/>
            <a:ext cx="307848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800" b="1" i="0">
                <a:solidFill>
                  <a:srgbClr val="0B3658"/>
                </a:solidFill>
                <a:latin typeface="Calibri"/>
              </a:rPr>
              <a:t>Os componentes oferecem pistas auditáveis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618" y="3143250"/>
            <a:ext cx="307848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Calibri"/>
              </a:rPr>
              <a:t>As regras da árvore e os coeficientes da Ridge sustentam a narrativa econômica da avaliação e podem ser examinados pelo profissional.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298" y="1600200"/>
            <a:ext cx="3535680" cy="255270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3898" y="1771650"/>
            <a:ext cx="419100" cy="419100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3898" y="2286000"/>
            <a:ext cx="307848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800" b="1" i="0">
                <a:solidFill>
                  <a:srgbClr val="0B3658"/>
                </a:solidFill>
                <a:latin typeface="Calibri"/>
              </a:rPr>
              <a:t>O uso exige contexto e validação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3898" y="3143250"/>
            <a:ext cx="307848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Calibri"/>
              </a:rPr>
              <a:t>Apoiar a triagem, investigar divergências, ampliar dados contratuais, equilibrar regiões e testar a generalização por edifício.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738" y="4343400"/>
            <a:ext cx="11064240" cy="762000"/>
          </a:xfrm>
          <a:prstGeom prst="roundRect">
            <a:avLst>
              <a:gd name="adj" fmla="val 4455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338" y="45339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A37"/>
                </a:solidFill>
                <a:latin typeface="Calibri"/>
              </a:rPr>
              <a:t>Posição deliberadamente intermediária entre o AVM opaco e a avaliação puramente subjetiva: o modelo capta estrutura não linear, mas por meio de componentes que o avaliador pode auditar.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O mérito não é prometer a taxa exata: é </a:t>
            </a:r>
            <a:r>
              <a:rPr sz="1700" b="1">
                <a:solidFill>
                  <a:srgbClr val="FFFFFF"/>
                </a:solidFill>
                <a:latin typeface="Calibri"/>
              </a:rPr>
              <a:t>reunir estimativa comparável, componentes examináveis e diagnóstico das lacunas.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7 · CONCLUSÃO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O uso da inteligência artificial na análise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738" y="1600200"/>
            <a:ext cx="5410200" cy="21526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338" y="175260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658"/>
                </a:solidFill>
                <a:latin typeface="Calibri"/>
              </a:rPr>
              <a:t>Onde a IA apoiou este trabalho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388" y="2095500"/>
            <a:ext cx="19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138" y="2085975"/>
            <a:ext cx="4610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Código em Python dos três especialistas e da combinação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4388" y="2495550"/>
            <a:ext cx="19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138" y="2486025"/>
            <a:ext cx="4610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Apoio à pesquisa bibliográfica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388" y="2895600"/>
            <a:ext cx="19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138" y="2886075"/>
            <a:ext cx="4610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Produção de gráficos e figuras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388" y="3295650"/>
            <a:ext cx="19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138" y="3286125"/>
            <a:ext cx="4610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Revisão linguística e formatação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0778" y="1600200"/>
            <a:ext cx="5410200" cy="215265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9378" y="175260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658"/>
                </a:solidFill>
                <a:latin typeface="Calibri"/>
              </a:rPr>
              <a:t>O que permaneceu com os autores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8428" y="2085975"/>
            <a:ext cx="1143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B1F2C"/>
                </a:solidFill>
                <a:latin typeface="Calibr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4178" y="2085975"/>
            <a:ext cx="4610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Concepção do estudo e formulação das hipóteses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8428" y="2486025"/>
            <a:ext cx="1143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B1F2C"/>
                </a:solidFill>
                <a:latin typeface="Calibr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4178" y="2486025"/>
            <a:ext cx="4610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Coleta, crítica e tratamento dos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8428" y="2886075"/>
            <a:ext cx="1143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B1F2C"/>
                </a:solidFill>
                <a:latin typeface="Calibr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4178" y="2886075"/>
            <a:ext cx="4610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Escolha das variáveis e da especificação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8428" y="3286125"/>
            <a:ext cx="1143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B1F2C"/>
                </a:solidFill>
                <a:latin typeface="Calibri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4178" y="3286125"/>
            <a:ext cx="4610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F2A37"/>
                </a:solidFill>
                <a:latin typeface="Calibri"/>
              </a:rPr>
              <a:t>Interpretação dos resultados e conclusões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738" y="3943350"/>
            <a:ext cx="11064240" cy="1047750"/>
          </a:xfrm>
          <a:prstGeom prst="roundRect">
            <a:avLst>
              <a:gd name="adj" fmla="val 4455"/>
            </a:avLst>
          </a:prstGeom>
          <a:solidFill>
            <a:srgbClr val="DDE7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438" y="41148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spc="140">
                <a:solidFill>
                  <a:srgbClr val="BB1F2C"/>
                </a:solidFill>
                <a:latin typeface="Calibri"/>
              </a:rPr>
              <a:t>HUMAN IN THE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438" y="4324350"/>
            <a:ext cx="1053084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A37"/>
                </a:solidFill>
                <a:latin typeface="Calibri"/>
              </a:rPr>
              <a:t>O avaliador decide em cada etapa; a máquina executa e propõe. Sem essa ferramenta, modelos como os deste artigo estariam fora do alcance de quem não programa — mas a responsabilidade técnica pela conclusão é indelegável.</a:t>
            </a:r>
          </a:p>
        </p:txBody>
      </p:sp>
      <p:sp>
        <p:nvSpPr>
          <p:cNvPr id="29" name="Fonte"/>
          <p:cNvSpPr txBox="1"/>
          <p:nvPr/>
        </p:nvSpPr>
        <p:spPr>
          <a:xfrm>
            <a:off x="566738" y="516255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Nota Metodológica sobre o Uso de Inteligência Artificial, em atenção ao item 6 do Regulamento do Concurso de Ponencias Técnicas, UPAV 2026.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A IA acelera a produção da análise. </a:t>
            </a:r>
            <a:r>
              <a:rPr sz="1700" b="1">
                <a:solidFill>
                  <a:srgbClr val="FFFFFF"/>
                </a:solidFill>
                <a:latin typeface="Calibri"/>
              </a:rPr>
              <a:t>A conclusão continua sendo do avaliador que assina.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7 · CONCLUSÃO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Obrigado · Perguntas e discussão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8" y="1866900"/>
            <a:ext cx="6667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0B3658"/>
                </a:solidFill>
                <a:latin typeface="Calibri"/>
              </a:rPr>
              <a:t>Três formas de aprender.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8" y="2419350"/>
            <a:ext cx="6667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B8860B"/>
                </a:solidFill>
                <a:latin typeface="Calibri"/>
              </a:rPr>
              <a:t>Um integrador que pondera.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8" y="2971800"/>
            <a:ext cx="6667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BB1F2C"/>
                </a:solidFill>
                <a:latin typeface="Calibri"/>
              </a:rPr>
              <a:t>Um avaliador que decide.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0" y="1771650"/>
            <a:ext cx="4010025" cy="18097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8600" y="1943100"/>
            <a:ext cx="35528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3658"/>
                </a:solidFill>
                <a:latin typeface="Calibri"/>
              </a:rPr>
              <a:t>Obrigado</a:t>
            </a:r>
            <a:r>
              <a:rPr sz="2200" b="0">
                <a:solidFill>
                  <a:srgbClr val="5B6775"/>
                </a:solidFill>
                <a:latin typeface="Calibri"/>
              </a:rPr>
              <a:t>  ·  </a:t>
            </a:r>
            <a:r>
              <a:rPr sz="2200" b="0">
                <a:solidFill>
                  <a:srgbClr val="5B6775"/>
                </a:solidFill>
                <a:latin typeface="Calibri"/>
              </a:rPr>
              <a:t>Gracias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8600" y="2381250"/>
            <a:ext cx="35528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B3658"/>
                </a:solidFill>
                <a:latin typeface="Calibri"/>
              </a:rPr>
              <a:t>Agnaldo Calvi Benvenho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B3658"/>
                </a:solidFill>
                <a:latin typeface="Calibri"/>
              </a:rPr>
              <a:t>Osório Accioly Gatto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8600" y="2990850"/>
            <a:ext cx="35528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775"/>
                </a:solidFill>
                <a:latin typeface="Calibri"/>
              </a:rPr>
              <a:t>IBAPE — Instituto Brasileiro de Avaliações e Perícias de Engenharia  ·  Brasil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738" y="3848100"/>
            <a:ext cx="11064240" cy="68580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338" y="4000500"/>
            <a:ext cx="1060704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3658"/>
                </a:solidFill>
                <a:latin typeface="Calibri"/>
              </a:rPr>
              <a:t>Dados, scripts e artigo abertos para replicação:  </a:t>
            </a:r>
            <a:r>
              <a:rPr sz="1500" b="1">
                <a:solidFill>
                  <a:srgbClr val="BB1F2C"/>
                </a:solidFill>
                <a:latin typeface="Calibri"/>
                <a:hlinkClick r:id="rId2"/>
              </a:rPr>
              <a:t>kaggle.com/datasets/agnaldocalvibenvenho/cap-rate-combinao-de-especialistas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Calibri"/>
              </a:rPr>
              <a:t>Base n = 247, previsões out-of-fold, script de reprodução e artigo completo.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738" y="4705350"/>
            <a:ext cx="1106424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775"/>
                </a:solidFill>
                <a:latin typeface="Calibri"/>
              </a:rPr>
              <a:t>Uso de IA generativa declarado em nota metodológica no artigo: apoio à revisão de texto, à pesquisa bibliográfica, à geração de gráficos e à programação. Desenho experimental, modelagens, análise dos resultados e conclusões: dos autores.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738" y="5577840"/>
            <a:ext cx="11064240" cy="566738"/>
          </a:xfrm>
          <a:prstGeom prst="roundRect">
            <a:avLst>
              <a:gd name="adj" fmla="val 16128"/>
            </a:avLst>
          </a:prstGeom>
          <a:solidFill>
            <a:srgbClr val="0B3658"/>
          </a:solidFill>
          <a:ln>
            <a:noFill/>
          </a:ln>
          <a:effectLst/>
        </p:spPr>
        <p:txBody>
          <a:bodyPr rtlCol="0" anchor="ctr" wrap="square" lIns="73342" rIns="73342" tIns="36195" bIns="36195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O modelo ajuda a localizar as perguntas que o avaliador precisa responder.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APOIO PARA PERGUNTAS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Apoio A — Perfil completo das regiões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25</a:t>
            </a:r>
          </a:p>
        </p:txBody>
      </p:sp>
      <p:graphicFrame>
        <p:nvGraphicFramePr>
          <p:cNvPr id="6" name="Tabela"/>
          <p:cNvGraphicFramePr>
            <a:graphicFrameLocks noGrp="1"/>
          </p:cNvGraphicFramePr>
          <p:nvPr/>
        </p:nvGraphicFramePr>
        <p:xfrm>
          <a:off x="566738" y="1638300"/>
          <a:ext cx="11064240" cy="40290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800"/>
                <a:gridCol w="609600"/>
                <a:gridCol w="1123950"/>
                <a:gridCol w="1257300"/>
                <a:gridCol w="1181100"/>
                <a:gridCol w="4682490"/>
              </a:tblGrid>
              <a:tr h="3619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Região</a:t>
                      </a:r>
                    </a:p>
                  </a:txBody>
                  <a:tcPr marL="152400" marR="114300" marT="57150" marB="57150" anchor="ctr">
                    <a:solidFill>
                      <a:srgbClr val="0B3658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152400" marR="114300" marT="57150" marB="57150" anchor="ctr">
                    <a:solidFill>
                      <a:srgbClr val="0B3658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Média (%)</a:t>
                      </a:r>
                    </a:p>
                  </a:txBody>
                  <a:tcPr marL="152400" marR="114300" marT="57150" marB="57150" anchor="ctr">
                    <a:solidFill>
                      <a:srgbClr val="0B3658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Mediana (%)</a:t>
                      </a:r>
                    </a:p>
                  </a:txBody>
                  <a:tcPr marL="152400" marR="114300" marT="57150" marB="57150" anchor="ctr">
                    <a:solidFill>
                      <a:srgbClr val="0B3658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D.P. (p.p.)</a:t>
                      </a:r>
                    </a:p>
                  </a:txBody>
                  <a:tcPr marL="152400" marR="114300" marT="57150" marB="57150" anchor="ctr">
                    <a:solidFill>
                      <a:srgbClr val="0B3658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Observação</a:t>
                      </a:r>
                    </a:p>
                  </a:txBody>
                  <a:tcPr marL="152400" marR="114300" marT="57150" marB="57150" anchor="ctr">
                    <a:solidFill>
                      <a:srgbClr val="0B3658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Centro</a:t>
                      </a:r>
                    </a:p>
                  </a:txBody>
                  <a:tcPr marL="152400" marR="114300" marT="57150" marB="57150" anchor="ctr">
                    <a:solidFill>
                      <a:srgbClr val="DDE7F1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152400" marR="114300" marT="57150" marB="57150" anchor="ctr">
                    <a:solidFill>
                      <a:srgbClr val="DDE7F1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9,31</a:t>
                      </a:r>
                    </a:p>
                  </a:txBody>
                  <a:tcPr marL="152400" marR="114300" marT="57150" marB="57150" anchor="ctr">
                    <a:solidFill>
                      <a:srgbClr val="DDE7F1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9,23</a:t>
                      </a:r>
                    </a:p>
                  </a:txBody>
                  <a:tcPr marL="152400" marR="114300" marT="57150" marB="57150" anchor="ctr">
                    <a:solidFill>
                      <a:srgbClr val="DDE7F1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3,01</a:t>
                      </a:r>
                    </a:p>
                  </a:txBody>
                  <a:tcPr marL="152400" marR="114300" marT="57150" marB="57150" anchor="ctr">
                    <a:solidFill>
                      <a:srgbClr val="DDE7F1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Maior média; heterogeneidade expressiva</a:t>
                      </a:r>
                    </a:p>
                  </a:txBody>
                  <a:tcPr marL="152400" marR="114300" marT="57150" marB="57150" anchor="ctr">
                    <a:solidFill>
                      <a:srgbClr val="DDE7F1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Vila Olímpia</a:t>
                      </a:r>
                    </a:p>
                  </a:txBody>
                  <a:tcPr marL="152400" marR="114300" marT="57150" marB="57150" anchor="ctr">
                    <a:solidFill>
                      <a:srgbClr val="FDF3DC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152400" marR="114300" marT="57150" marB="57150" anchor="ctr">
                    <a:solidFill>
                      <a:srgbClr val="FDF3DC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8,87</a:t>
                      </a:r>
                    </a:p>
                  </a:txBody>
                  <a:tcPr marL="152400" marR="114300" marT="57150" marB="57150" anchor="ctr">
                    <a:solidFill>
                      <a:srgbClr val="FDF3DC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7,88</a:t>
                      </a:r>
                    </a:p>
                  </a:txBody>
                  <a:tcPr marL="152400" marR="114300" marT="57150" marB="57150" anchor="ctr">
                    <a:solidFill>
                      <a:srgbClr val="FDF3DC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3,37</a:t>
                      </a:r>
                    </a:p>
                  </a:txBody>
                  <a:tcPr marL="152400" marR="114300" marT="57150" marB="57150" anchor="ctr">
                    <a:solidFill>
                      <a:srgbClr val="FDF3DC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Maior dispersão da amostra; perfis mistos</a:t>
                      </a:r>
                    </a:p>
                  </a:txBody>
                  <a:tcPr marL="152400" marR="114300" marT="57150" marB="57150" anchor="ctr">
                    <a:solidFill>
                      <a:srgbClr val="FDF3DC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Faria Lima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7,13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6,67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2,59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Região premium; demanda institucional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Itaim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7,11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6,35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2,72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Mercado corporativo consolidado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Barra Funda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6,97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6,85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2,05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Categoria de referência nas indicadoras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Chucri Zaidan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6,84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6,43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1,11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Baixa dispersão; imóveis homogêneos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Marginal Pinheiros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6,60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6,00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1,20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n reduzido; cautela na interpretação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Paulista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6,51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6,71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1,44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Escritórios de médio padrão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JK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6,21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6,70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1,53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Demanda institucional premium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Jardins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6,09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6,15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1,27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Região nobre; cap rate comprimido</a:t>
                      </a:r>
                    </a:p>
                  </a:txBody>
                  <a:tcPr marL="152400" marR="114300" marT="57150" marB="57150" anchor="ctr">
                    <a:solidFill>
                      <a:srgbClr val="F6F9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  <a:tr h="33337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A37"/>
                          </a:solidFill>
                          <a:latin typeface="Calibri"/>
                        </a:rPr>
                        <a:t>Chácara Santo Antônio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6,02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6,24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1,12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F2A37"/>
                          </a:solidFill>
                          <a:latin typeface="Calibri"/>
                        </a:rPr>
                        <a:t>n reduzido; cautela na interpretação</a:t>
                      </a:r>
                    </a:p>
                  </a:txBody>
                  <a:tcPr marL="152400" marR="114300" marT="57150" marB="57150" anchor="ctr"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Fonte"/>
          <p:cNvSpPr txBox="1"/>
          <p:nvPr/>
        </p:nvSpPr>
        <p:spPr>
          <a:xfrm>
            <a:off x="566738" y="56388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Artigo final, Tabela 3. Total: 247 observações. Médias descritivas — não isolam o efeito da localização.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942"/>
            <a:ext cx="9464040" cy="25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BB1F2C"/>
                </a:solidFill>
                <a:latin typeface="Calibri"/>
              </a:rPr>
              <a:t>APOIO PARA PERGUNTAS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1" i="0">
                <a:solidFill>
                  <a:srgbClr val="0B3658"/>
                </a:solidFill>
                <a:latin typeface="Calibri"/>
              </a:rPr>
              <a:t>Apoio B — Referências essenciais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98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5B6775"/>
                </a:solidFill>
                <a:latin typeface="Calibri"/>
              </a:rPr>
              <a:t>Cap rates por combinação de especialistas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778" y="633698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3658"/>
                </a:solidFill>
                <a:latin typeface="Calibri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738" y="1638300"/>
            <a:ext cx="11064240" cy="1428750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338" y="1752600"/>
            <a:ext cx="1060704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CAP RATES E HETEROGENEIDADE DE RISCO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338" y="1962150"/>
            <a:ext cx="106070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F2A37"/>
                </a:solidFill>
                <a:latin typeface="Calibri"/>
              </a:rPr>
              <a:t>BIALKOWSKI, J.; TITMAN, S.; TWITE, G. The determinants of office cap rates: the international evidence. Real Estate Economics, v. 51, n. 3, p. 539–572,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338" y="2324100"/>
            <a:ext cx="106070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F2A37"/>
                </a:solidFill>
                <a:latin typeface="Calibri"/>
              </a:rPr>
              <a:t>DEVANEY, S. et al. Capitalization rates and transaction activity in international office markets. Global Finance Journal, v. 42, art. 100469, 2019.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338" y="2686050"/>
            <a:ext cx="106070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F2A37"/>
                </a:solidFill>
                <a:latin typeface="Calibri"/>
              </a:rPr>
              <a:t>LETDIN, M. et al. The role of tenant characteristics in retail cap rate variation. J. Real Estate Finance and Economics, v. 70, n. 3, p. 429–456, 2025.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738" y="3219450"/>
            <a:ext cx="11064240" cy="1428750"/>
          </a:xfrm>
          <a:prstGeom prst="roundRect">
            <a:avLst>
              <a:gd name="adj" fmla="val 4455"/>
            </a:avLst>
          </a:prstGeom>
          <a:solidFill>
            <a:srgbClr val="FDF3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338" y="3333750"/>
            <a:ext cx="1060704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B6775"/>
                </a:solidFill>
                <a:latin typeface="Calibri"/>
              </a:rPr>
              <a:t>COMBINAÇÃO E VALIDAÇÃO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338" y="3543300"/>
            <a:ext cx="106070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F2A37"/>
                </a:solidFill>
                <a:latin typeface="Calibri"/>
              </a:rPr>
              <a:t>WOLPERT, D. H. Stacked generalization. Neural Networks, v. 5, n. 2, p. 241–259, 1992.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338" y="3905250"/>
            <a:ext cx="106070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F2A37"/>
                </a:solidFill>
                <a:latin typeface="Calibri"/>
              </a:rPr>
              <a:t>HASTIE, T.; TIBSHIRANI, R.; FRIEDMAN, J. The elements of statistical learning. 2. ed. New York: Springer, 2009.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338" y="4267200"/>
            <a:ext cx="106070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F2A37"/>
                </a:solidFill>
                <a:latin typeface="Calibri"/>
              </a:rPr>
              <a:t>KIM, W.; HONG, J. Stacked ensemble model for the automatic valuation of residential properties. Land, v. 13, n. 9, p. 1436, 2024.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738" y="4800600"/>
            <a:ext cx="11064240" cy="1066800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338" y="4914900"/>
            <a:ext cx="1060704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BB1F2C"/>
                </a:solidFill>
                <a:latin typeface="Calibri"/>
              </a:rPr>
              <a:t>ASSOCIAÇÃO ALÉM DA CORRELAÇÃO LINEAR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338" y="5124450"/>
            <a:ext cx="106070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F2A37"/>
                </a:solidFill>
                <a:latin typeface="Calibri"/>
              </a:rPr>
              <a:t>SZÉKELY, G. J.; RIZZO, M. L.; BAKIROV, N. K. Measuring and testing dependence by correlation of distances. The Annals of Statistics, v. 35, n. 6, p. 2769–2794, 2007.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338" y="5486400"/>
            <a:ext cx="106070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F2A37"/>
                </a:solidFill>
                <a:latin typeface="Calibri"/>
              </a:rPr>
              <a:t>RAMOS-CARREÑO, C.; TORRECILLA, J. L. dcor: distance correlation and energy statistics in Python. SoftwareX, v. 22, art. 101326, 2023.</a:t>
            </a:r>
          </a:p>
        </p:txBody>
      </p:sp>
      <p:sp>
        <p:nvSpPr>
          <p:cNvPr id="20" name="Fonte"/>
          <p:cNvSpPr txBox="1"/>
          <p:nvPr/>
        </p:nvSpPr>
        <p:spPr>
          <a:xfrm>
            <a:off x="566738" y="6057900"/>
            <a:ext cx="110642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Referências selecionadas da bibliografia do artigo final; a lista completa consta da seção Referências e das notas dos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Panorámica</PresentationFormat>
  <Paragraphs>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Aptos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híbrida para avaliação de imóveis com redes neurais Kolmogorov–Arnold e regressão simbólica</dc:title>
  <dc:creator>Agnaldo Calvi Benvenho</dc:creator>
  <cp:lastModifiedBy>Mermi Celati Cano</cp:lastModifiedBy>
  <cp:revision>6</cp:revision>
  <dcterms:created xsi:type="dcterms:W3CDTF">2026-07-28T14:03:44Z</dcterms:created>
  <dcterms:modified xsi:type="dcterms:W3CDTF">2026-08-24T02:18:24Z</dcterms:modified>
  <dc:subject>XL Congresso UPAV 2026 — Madrid — Concurso de Ponencias Técnicas</dc:subject>
</cp:coreProperties>
</file>